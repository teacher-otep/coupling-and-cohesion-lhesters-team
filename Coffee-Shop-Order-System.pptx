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9"/>
  </p:notesMasterIdLst>
  <p:sldIdLst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65" r:id="rId12"/>
    <p:sldId id="266" r:id="rId13"/>
    <p:sldId id="267" r:id="rId14"/>
    <p:sldId id="268" r:id="rId15"/>
    <p:sldId id="269" r:id="rId16"/>
    <p:sldId id="271" r:id="rId17"/>
    <p:sldId id="273" r:id="rId18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notesMaster" Target="notesMasters/notesMaster1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5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813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1"/>
            <a:ext cx="3076575" cy="5127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t" anchorCtr="0" compatLnSpc="1"/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1048814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9" y="1"/>
            <a:ext cx="3076575" cy="5127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t" anchorCtr="0" compatLnSpc="1"/>
          <a:lstStyle>
            <a:lvl1pPr algn="r">
              <a:defRPr sz="1100"/>
            </a:lvl1pPr>
          </a:lstStyle>
          <a:p>
            <a:endParaRPr lang="en-US"/>
          </a:p>
        </p:txBody>
      </p:sp>
      <p:sp>
        <p:nvSpPr>
          <p:cNvPr id="1048815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6763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</p:spPr>
      </p:sp>
      <p:sp>
        <p:nvSpPr>
          <p:cNvPr id="1048816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4" y="4862514"/>
            <a:ext cx="5680075" cy="4605337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t" anchorCtr="0" compatLnSpc="1"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smtClean="0"/>
          </a:p>
        </p:txBody>
      </p:sp>
      <p:sp>
        <p:nvSpPr>
          <p:cNvPr id="1048817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9720264"/>
            <a:ext cx="3076575" cy="51276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b" anchorCtr="0" compatLnSpc="1"/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104881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9" y="9720264"/>
            <a:ext cx="3076575" cy="51276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b" anchorCtr="0" compatLnSpc="1"/>
          <a:lstStyle>
            <a:lvl1pPr algn="r">
              <a:defRPr sz="1100"/>
            </a:lvl1pPr>
          </a:lstStyle>
          <a:p>
            <a:fld id="{A9A0EA98-5831-4853-B862-C702E6EB345C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8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59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1048760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48761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62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4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7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7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77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4877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7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88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89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1048790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48791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92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93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94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795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796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4879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9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99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800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1048801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80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1048803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804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48805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806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63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64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4876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6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48582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583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807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808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809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1048810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48811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812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77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78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48779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1048780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48781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82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83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84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78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4878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8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67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68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769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48770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71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Slide-35_17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Title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Your slide title here</a:t>
            </a:r>
            <a:endParaRPr lang="zh-CN" alt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idx="16388" hasCustomPrompt="1"/>
            <p:custDataLst>
              <p:tags r:id="rId3"/>
            </p:custDataLst>
          </p:nvPr>
        </p:nvSpPr>
        <p:spPr>
          <a:xfrm>
            <a:off x="622300" y="2082800"/>
            <a:ext cx="1498600" cy="1270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10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01</a:t>
            </a:r>
            <a:endParaRPr lang="zh-CN" altLang="en-US" smtClean="0"/>
          </a:p>
        </p:txBody>
      </p:sp>
      <p:sp>
        <p:nvSpPr>
          <p:cNvPr id="8" name="Text Placeholder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609600" y="37338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Item title</a:t>
            </a:r>
            <a:endParaRPr lang="zh-CN" altLang="en-US" smtClean="0"/>
          </a:p>
        </p:txBody>
      </p:sp>
      <p:sp>
        <p:nvSpPr>
          <p:cNvPr id="9" name="Text Placeholder 8"/>
          <p:cNvSpPr>
            <a:spLocks noGrp="1"/>
          </p:cNvSpPr>
          <p:nvPr>
            <p:ph type="body" idx="16387" hasCustomPrompt="1"/>
            <p:custDataLst>
              <p:tags r:id="rId5"/>
            </p:custDataLst>
          </p:nvPr>
        </p:nvSpPr>
        <p:spPr>
          <a:xfrm>
            <a:off x="609600" y="4292600"/>
            <a:ext cx="32512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Enter title text here</a:t>
            </a:r>
            <a:endParaRPr lang="zh-CN" altLang="en-US" smtClean="0"/>
          </a:p>
        </p:txBody>
      </p:sp>
      <p:sp>
        <p:nvSpPr>
          <p:cNvPr id="10" name="Text Placeholder 9"/>
          <p:cNvSpPr>
            <a:spLocks noGrp="1"/>
          </p:cNvSpPr>
          <p:nvPr>
            <p:ph type="body" idx="16391" hasCustomPrompt="1"/>
            <p:custDataLst>
              <p:tags r:id="rId6"/>
            </p:custDataLst>
          </p:nvPr>
        </p:nvSpPr>
        <p:spPr>
          <a:xfrm>
            <a:off x="4483100" y="2082800"/>
            <a:ext cx="1498600" cy="1270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10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02</a:t>
            </a:r>
            <a:endParaRPr lang="zh-CN" altLang="en-US" smtClean="0"/>
          </a:p>
        </p:txBody>
      </p:sp>
      <p:sp>
        <p:nvSpPr>
          <p:cNvPr id="11" name="Text Placeholder 10"/>
          <p:cNvSpPr>
            <a:spLocks noGrp="1"/>
          </p:cNvSpPr>
          <p:nvPr>
            <p:ph type="body" idx="16389" hasCustomPrompt="1"/>
            <p:custDataLst>
              <p:tags r:id="rId7"/>
            </p:custDataLst>
          </p:nvPr>
        </p:nvSpPr>
        <p:spPr>
          <a:xfrm>
            <a:off x="4470400" y="37338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Item title</a:t>
            </a:r>
            <a:endParaRPr lang="zh-CN" altLang="en-US" smtClean="0"/>
          </a:p>
        </p:txBody>
      </p:sp>
      <p:sp>
        <p:nvSpPr>
          <p:cNvPr id="12" name="Text Placeholder 11"/>
          <p:cNvSpPr>
            <a:spLocks noGrp="1"/>
          </p:cNvSpPr>
          <p:nvPr>
            <p:ph type="body" idx="16390" hasCustomPrompt="1"/>
            <p:custDataLst>
              <p:tags r:id="rId8"/>
            </p:custDataLst>
          </p:nvPr>
        </p:nvSpPr>
        <p:spPr>
          <a:xfrm>
            <a:off x="4470400" y="4292600"/>
            <a:ext cx="32512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Enter title text here</a:t>
            </a:r>
            <a:endParaRPr lang="zh-CN" altLang="en-US" smtClean="0"/>
          </a:p>
        </p:txBody>
      </p:sp>
      <p:sp>
        <p:nvSpPr>
          <p:cNvPr id="13" name="Text Placeholder 12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8343900" y="2082800"/>
            <a:ext cx="1498600" cy="1270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10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03</a:t>
            </a:r>
            <a:endParaRPr lang="zh-CN" altLang="en-US" smtClean="0"/>
          </a:p>
        </p:txBody>
      </p:sp>
      <p:sp>
        <p:nvSpPr>
          <p:cNvPr id="14" name="Text Placeholder 13"/>
          <p:cNvSpPr>
            <a:spLocks noGrp="1"/>
          </p:cNvSpPr>
          <p:nvPr>
            <p:ph type="body" idx="16392" hasCustomPrompt="1"/>
            <p:custDataLst>
              <p:tags r:id="rId10"/>
            </p:custDataLst>
          </p:nvPr>
        </p:nvSpPr>
        <p:spPr>
          <a:xfrm>
            <a:off x="8331200" y="3733800"/>
            <a:ext cx="325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Item title</a:t>
            </a:r>
            <a:endParaRPr lang="zh-CN" altLang="en-US" smtClean="0"/>
          </a:p>
        </p:txBody>
      </p:sp>
      <p:sp>
        <p:nvSpPr>
          <p:cNvPr id="15" name="Text Placeholder 14"/>
          <p:cNvSpPr>
            <a:spLocks noGrp="1"/>
          </p:cNvSpPr>
          <p:nvPr>
            <p:ph type="body" idx="16393" hasCustomPrompt="1"/>
            <p:custDataLst>
              <p:tags r:id="rId11"/>
            </p:custDataLst>
          </p:nvPr>
        </p:nvSpPr>
        <p:spPr>
          <a:xfrm>
            <a:off x="8331200" y="4292600"/>
            <a:ext cx="3251200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Enter title text here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577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578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4857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04858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11.png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8.png"/><Relationship Id="rId7" Type="http://schemas.openxmlformats.org/officeDocument/2006/relationships/image" Target="../media/image17.png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1" Type="http://schemas.openxmlformats.org/officeDocument/2006/relationships/slideLayout" Target="../slideLayouts/slideLayout7.xml"/><Relationship Id="rId10" Type="http://schemas.openxmlformats.org/officeDocument/2006/relationships/image" Target="../media/image20.png"/><Relationship Id="rId1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6.png"/><Relationship Id="rId8" Type="http://schemas.openxmlformats.org/officeDocument/2006/relationships/image" Target="../media/image35.png"/><Relationship Id="rId7" Type="http://schemas.openxmlformats.org/officeDocument/2006/relationships/image" Target="../media/image34.png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1" Type="http://schemas.openxmlformats.org/officeDocument/2006/relationships/slideLayout" Target="../slideLayouts/slideLayout7.xml"/><Relationship Id="rId10" Type="http://schemas.openxmlformats.org/officeDocument/2006/relationships/image" Target="../media/image37.png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1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1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1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1E17"/>
        </a:solidFill>
        <a:effectLst/>
      </p:bgPr>
    </p:bg>
    <p:spTree>
      <p:nvGrpSpPr>
        <p:cNvPr id="24" name=""/>
        <p:cNvGrpSpPr/>
        <p:nvPr/>
      </p:nvGrpSpPr>
      <p:grpSpPr/>
      <p:pic>
        <p:nvPicPr>
          <p:cNvPr id="209715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9715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4246066"/>
            <a:ext cx="8572500" cy="603795"/>
          </a:xfrm>
          <a:prstGeom prst="rect">
            <a:avLst/>
          </a:prstGeom>
        </p:spPr>
      </p:pic>
      <p:sp>
        <p:nvSpPr>
          <p:cNvPr id="1048584" name="TextBox 3"/>
          <p:cNvSpPr txBox="1"/>
          <p:nvPr/>
        </p:nvSpPr>
        <p:spPr>
          <a:xfrm>
            <a:off x="3600450" y="2007989"/>
            <a:ext cx="49911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/>
            <a:r>
              <a:rPr sz="1200" b="1" i="0" u="none">
                <a:solidFill>
                  <a:srgbClr val="D97706"/>
                </a:solidFill>
                <a:latin typeface="DM Sans"/>
              </a:rPr>
              <a:t>COMPSCI GROUP PROJECT • JAVA OOP DESIGN</a:t>
            </a:r>
            <a:endParaRPr sz="1200" b="1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585" name="TextBox 4"/>
          <p:cNvSpPr txBox="1"/>
          <p:nvPr/>
        </p:nvSpPr>
        <p:spPr>
          <a:xfrm>
            <a:off x="1595437" y="2350889"/>
            <a:ext cx="9001125" cy="700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>
              <a:lnSpc>
                <a:spcPts val="5520"/>
              </a:lnSpc>
            </a:pPr>
            <a:r>
              <a:rPr sz="4800" b="1" i="0" u="none">
                <a:solidFill>
                  <a:srgbClr val="FAF6F0"/>
                </a:solidFill>
                <a:latin typeface="Merriweather"/>
              </a:rPr>
              <a:t>Coffee Shop Order System</a:t>
            </a:r>
            <a:endParaRPr sz="4800" b="1" i="0" u="none">
              <a:solidFill>
                <a:srgbClr val="FAF6F0"/>
              </a:solidFill>
              <a:latin typeface="Merriweather"/>
            </a:endParaRPr>
          </a:p>
        </p:txBody>
      </p:sp>
      <p:sp>
        <p:nvSpPr>
          <p:cNvPr id="1048586" name="TextBox 5"/>
          <p:cNvSpPr txBox="1"/>
          <p:nvPr/>
        </p:nvSpPr>
        <p:spPr>
          <a:xfrm>
            <a:off x="1809750" y="3194744"/>
            <a:ext cx="8572500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>
              <a:lnSpc>
                <a:spcPts val="2640"/>
              </a:lnSpc>
            </a:pPr>
            <a:r>
              <a:rPr sz="1650" b="0" i="1" u="none">
                <a:solidFill>
                  <a:srgbClr val="FAF6F0"/>
                </a:solidFill>
                <a:latin typeface="DM Sans Light"/>
              </a:rPr>
              <a:t>A modern, decoupled software architecture built with robust Java Interfaces &amp; Git Best Practices</a:t>
            </a:r>
            <a:endParaRPr sz="1650" b="0" i="1" u="none">
              <a:solidFill>
                <a:srgbClr val="FAF6F0"/>
              </a:solidFill>
              <a:latin typeface="DM Sans Light"/>
            </a:endParaRPr>
          </a:p>
        </p:txBody>
      </p:sp>
      <p:sp>
        <p:nvSpPr>
          <p:cNvPr id="1048587" name="TextBox 6"/>
          <p:cNvSpPr txBox="1"/>
          <p:nvPr/>
        </p:nvSpPr>
        <p:spPr>
          <a:xfrm>
            <a:off x="3971925" y="4493716"/>
            <a:ext cx="1819275" cy="213270"/>
          </a:xfrm>
          <a:prstGeom prst="rect">
            <a:avLst/>
          </a:prstGeom>
          <a:noFill/>
        </p:spPr>
        <p:txBody>
          <a:bodyPr wrap="square" lIns="247650" tIns="0" rIns="0" bIns="0" anchor="t">
            <a:spAutoFit/>
          </a:bodyPr>
          <a:p>
            <a:pPr algn="ctr">
              <a:lnSpc>
                <a:spcPts val="1680"/>
              </a:lnSpc>
            </a:pPr>
            <a:r>
              <a:rPr sz="1050" b="0" i="0" u="none">
                <a:solidFill>
                  <a:srgbClr val="FAF6F0"/>
                </a:solidFill>
                <a:latin typeface="DM Sans"/>
              </a:rPr>
              <a:t>Presented by: 5 Speakers</a:t>
            </a:r>
            <a:endParaRPr sz="1050" b="0" i="0" u="none">
              <a:solidFill>
                <a:srgbClr val="FAF6F0"/>
              </a:solidFill>
              <a:latin typeface="DM Sans"/>
            </a:endParaRPr>
          </a:p>
        </p:txBody>
      </p:sp>
      <p:sp>
        <p:nvSpPr>
          <p:cNvPr id="1048588" name="TextBox 7"/>
          <p:cNvSpPr txBox="1"/>
          <p:nvPr/>
        </p:nvSpPr>
        <p:spPr>
          <a:xfrm>
            <a:off x="6076950" y="4493716"/>
            <a:ext cx="2143125" cy="213270"/>
          </a:xfrm>
          <a:prstGeom prst="rect">
            <a:avLst/>
          </a:prstGeom>
          <a:noFill/>
        </p:spPr>
        <p:txBody>
          <a:bodyPr wrap="square" lIns="190500" tIns="0" rIns="0" bIns="0" anchor="t">
            <a:spAutoFit/>
          </a:bodyPr>
          <a:p>
            <a:pPr algn="ctr">
              <a:lnSpc>
                <a:spcPts val="1680"/>
              </a:lnSpc>
            </a:pPr>
            <a:r>
              <a:rPr sz="1050" b="0" i="0" u="none">
                <a:solidFill>
                  <a:srgbClr val="FAF6F0"/>
                </a:solidFill>
                <a:latin typeface="DM Sans"/>
              </a:rPr>
              <a:t>Submission Date: July 20, 2026</a:t>
            </a:r>
            <a:endParaRPr sz="1050" b="0" i="0" u="none">
              <a:solidFill>
                <a:srgbClr val="FAF6F0"/>
              </a:solidFill>
              <a:latin typeface="DM Sans"/>
            </a:endParaRPr>
          </a:p>
        </p:txBody>
      </p:sp>
      <p:pic>
        <p:nvPicPr>
          <p:cNvPr id="2097154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1925" y="4531816"/>
            <a:ext cx="171450" cy="133350"/>
          </a:xfrm>
          <a:prstGeom prst="rect">
            <a:avLst/>
          </a:prstGeom>
        </p:spPr>
      </p:pic>
      <p:pic>
        <p:nvPicPr>
          <p:cNvPr id="2097155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6950" y="4531816"/>
            <a:ext cx="114300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31" name=""/>
        <p:cNvGrpSpPr/>
        <p:nvPr/>
      </p:nvGrpSpPr>
      <p:grpSpPr/>
      <p:pic>
        <p:nvPicPr>
          <p:cNvPr id="2097161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97162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2183159"/>
            <a:ext cx="5191125" cy="3367831"/>
          </a:xfrm>
          <a:prstGeom prst="rect">
            <a:avLst/>
          </a:prstGeom>
        </p:spPr>
      </p:pic>
      <p:pic>
        <p:nvPicPr>
          <p:cNvPr id="2097163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25" y="2183159"/>
            <a:ext cx="5191125" cy="3367831"/>
          </a:xfrm>
          <a:prstGeom prst="rect">
            <a:avLst/>
          </a:prstGeom>
        </p:spPr>
      </p:pic>
      <p:sp>
        <p:nvSpPr>
          <p:cNvPr id="1048606" name="TextBox 4"/>
          <p:cNvSpPr txBox="1"/>
          <p:nvPr/>
        </p:nvSpPr>
        <p:spPr>
          <a:xfrm>
            <a:off x="962025" y="2478434"/>
            <a:ext cx="4830603" cy="266700"/>
          </a:xfrm>
          <a:prstGeom prst="rect">
            <a:avLst/>
          </a:prstGeom>
          <a:noFill/>
        </p:spPr>
        <p:txBody>
          <a:bodyPr wrap="square" lIns="323850" tIns="0" rIns="0" bIns="0" anchor="t">
            <a:spAutoFit/>
          </a:bodyPr>
          <a:p>
            <a:pPr algn="l"/>
            <a:r>
              <a:rPr sz="1800" b="1" i="0" u="none">
                <a:solidFill>
                  <a:srgbClr val="DC2626"/>
                </a:solidFill>
                <a:latin typeface="Merriweather"/>
              </a:rPr>
              <a:t>BEFORE: Messy Monolith</a:t>
            </a:r>
            <a:endParaRPr sz="1800" b="1" i="0" u="none">
              <a:solidFill>
                <a:srgbClr val="DC2626"/>
              </a:solidFill>
              <a:latin typeface="Merriweather"/>
            </a:endParaRPr>
          </a:p>
        </p:txBody>
      </p:sp>
      <p:sp>
        <p:nvSpPr>
          <p:cNvPr id="1048607" name="TextBox 5"/>
          <p:cNvSpPr txBox="1"/>
          <p:nvPr/>
        </p:nvSpPr>
        <p:spPr>
          <a:xfrm>
            <a:off x="962025" y="2916584"/>
            <a:ext cx="4600575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One giant </a:t>
            </a:r>
            <a:r>
              <a:rPr sz="1200" b="1" i="0" u="none">
                <a:solidFill>
                  <a:srgbClr val="2B1E17"/>
                </a:solidFill>
                <a:latin typeface="DM Sans"/>
              </a:rPr>
              <a:t>OrderProcessor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class handling multiple, unrelated tasks in a single module: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08" name="TextBox 6"/>
          <p:cNvSpPr txBox="1"/>
          <p:nvPr/>
        </p:nvSpPr>
        <p:spPr>
          <a:xfrm>
            <a:off x="962025" y="4899570"/>
            <a:ext cx="4600575" cy="213270"/>
          </a:xfrm>
          <a:prstGeom prst="rect">
            <a:avLst/>
          </a:prstGeom>
          <a:noFill/>
        </p:spPr>
        <p:txBody>
          <a:bodyPr wrap="square" lIns="133350" tIns="0" rIns="0" bIns="0" anchor="t">
            <a:spAutoFit/>
          </a:bodyPr>
          <a:p>
            <a:pPr algn="l">
              <a:lnSpc>
                <a:spcPts val="1680"/>
              </a:lnSpc>
            </a:pPr>
            <a:r>
              <a:rPr sz="1050" b="1" i="0" u="none">
                <a:solidFill>
                  <a:srgbClr val="DC2626"/>
                </a:solidFill>
                <a:latin typeface="DM Sans"/>
              </a:rPr>
              <a:t>Fragile design: Editing tax rules breaks receipt printing.</a:t>
            </a:r>
            <a:endParaRPr sz="1050" b="1" i="0" u="none">
              <a:solidFill>
                <a:srgbClr val="DC2626"/>
              </a:solidFill>
              <a:latin typeface="DM Sans"/>
            </a:endParaRPr>
          </a:p>
        </p:txBody>
      </p:sp>
      <p:sp>
        <p:nvSpPr>
          <p:cNvPr id="1048609" name="TextBox 7"/>
          <p:cNvSpPr txBox="1"/>
          <p:nvPr/>
        </p:nvSpPr>
        <p:spPr>
          <a:xfrm>
            <a:off x="6629400" y="2592734"/>
            <a:ext cx="4830603" cy="266700"/>
          </a:xfrm>
          <a:prstGeom prst="rect">
            <a:avLst/>
          </a:prstGeom>
          <a:noFill/>
        </p:spPr>
        <p:txBody>
          <a:bodyPr wrap="square" lIns="323850" tIns="0" rIns="0" bIns="0" anchor="t">
            <a:spAutoFit/>
          </a:bodyPr>
          <a:p>
            <a:pPr algn="l"/>
            <a:r>
              <a:rPr sz="1800" b="1" i="0" u="none">
                <a:solidFill>
                  <a:srgbClr val="16A34A"/>
                </a:solidFill>
                <a:latin typeface="Merriweather"/>
              </a:rPr>
              <a:t>AFTER: Decoupled Components</a:t>
            </a:r>
            <a:endParaRPr sz="1800" b="1" i="0" u="none">
              <a:solidFill>
                <a:srgbClr val="16A34A"/>
              </a:solidFill>
              <a:latin typeface="Merriweather"/>
            </a:endParaRPr>
          </a:p>
        </p:txBody>
      </p:sp>
      <p:sp>
        <p:nvSpPr>
          <p:cNvPr id="1048610" name="TextBox 8"/>
          <p:cNvSpPr txBox="1"/>
          <p:nvPr/>
        </p:nvSpPr>
        <p:spPr>
          <a:xfrm>
            <a:off x="6629400" y="3030884"/>
            <a:ext cx="4600575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Granular architectural components, each owning exactly </a:t>
            </a:r>
            <a:r>
              <a:rPr sz="1200" b="1" i="0" u="none">
                <a:solidFill>
                  <a:srgbClr val="2B1E17"/>
                </a:solidFill>
                <a:latin typeface="DM Sans"/>
              </a:rPr>
              <a:t>ONE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clearly defined responsibility: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11" name="TextBox 9"/>
          <p:cNvSpPr txBox="1"/>
          <p:nvPr/>
        </p:nvSpPr>
        <p:spPr>
          <a:xfrm>
            <a:off x="6629400" y="4785270"/>
            <a:ext cx="4600575" cy="213270"/>
          </a:xfrm>
          <a:prstGeom prst="rect">
            <a:avLst/>
          </a:prstGeom>
          <a:noFill/>
        </p:spPr>
        <p:txBody>
          <a:bodyPr wrap="square" lIns="133350" tIns="0" rIns="0" bIns="0" anchor="t">
            <a:spAutoFit/>
          </a:bodyPr>
          <a:p>
            <a:pPr algn="l">
              <a:lnSpc>
                <a:spcPts val="1680"/>
              </a:lnSpc>
            </a:pPr>
            <a:r>
              <a:rPr sz="1050" b="1" i="0" u="none">
                <a:solidFill>
                  <a:srgbClr val="16A34A"/>
                </a:solidFill>
                <a:latin typeface="DM Sans"/>
              </a:rPr>
              <a:t>Extensible: Swap components instantly with no regression.</a:t>
            </a:r>
            <a:endParaRPr sz="1050" b="1" i="0" u="none">
              <a:solidFill>
                <a:srgbClr val="16A34A"/>
              </a:solidFill>
              <a:latin typeface="DM Sans"/>
            </a:endParaRPr>
          </a:p>
        </p:txBody>
      </p:sp>
      <p:pic>
        <p:nvPicPr>
          <p:cNvPr id="2097164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025" y="2507009"/>
            <a:ext cx="228600" cy="228600"/>
          </a:xfrm>
          <a:prstGeom prst="rect">
            <a:avLst/>
          </a:prstGeom>
        </p:spPr>
      </p:pic>
      <p:sp>
        <p:nvSpPr>
          <p:cNvPr id="1048612" name="TextBox 11"/>
          <p:cNvSpPr txBox="1"/>
          <p:nvPr/>
        </p:nvSpPr>
        <p:spPr>
          <a:xfrm>
            <a:off x="1228725" y="3547020"/>
            <a:ext cx="43338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Calculating promotional discounts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13" name="TextBox 12"/>
          <p:cNvSpPr txBox="1"/>
          <p:nvPr/>
        </p:nvSpPr>
        <p:spPr>
          <a:xfrm>
            <a:off x="1228725" y="3889920"/>
            <a:ext cx="43338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Hardcoding Value-Added Tax (VAT) computations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14" name="TextBox 13"/>
          <p:cNvSpPr txBox="1"/>
          <p:nvPr/>
        </p:nvSpPr>
        <p:spPr>
          <a:xfrm>
            <a:off x="1228725" y="4232820"/>
            <a:ext cx="43338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Formatting print layouts and writing logs directly to local file systems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pic>
        <p:nvPicPr>
          <p:cNvPr id="209716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025" y="4937670"/>
            <a:ext cx="133350" cy="133350"/>
          </a:xfrm>
          <a:prstGeom prst="rect">
            <a:avLst/>
          </a:prstGeom>
        </p:spPr>
      </p:pic>
      <p:pic>
        <p:nvPicPr>
          <p:cNvPr id="209716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2621309"/>
            <a:ext cx="228600" cy="228600"/>
          </a:xfrm>
          <a:prstGeom prst="rect">
            <a:avLst/>
          </a:prstGeom>
        </p:spPr>
      </p:pic>
      <p:sp>
        <p:nvSpPr>
          <p:cNvPr id="1048615" name="TextBox 16"/>
          <p:cNvSpPr txBox="1"/>
          <p:nvPr/>
        </p:nvSpPr>
        <p:spPr>
          <a:xfrm>
            <a:off x="6896100" y="3661320"/>
            <a:ext cx="43338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Isolate mathematical tax rules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16" name="TextBox 17"/>
          <p:cNvSpPr txBox="1"/>
          <p:nvPr/>
        </p:nvSpPr>
        <p:spPr>
          <a:xfrm>
            <a:off x="6896100" y="4004220"/>
            <a:ext cx="43338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Modularize receipt formatting templates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17" name="TextBox 18"/>
          <p:cNvSpPr txBox="1"/>
          <p:nvPr/>
        </p:nvSpPr>
        <p:spPr>
          <a:xfrm>
            <a:off x="6896100" y="4347120"/>
            <a:ext cx="43338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Abstract filesystem logging from calculations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pic>
        <p:nvPicPr>
          <p:cNvPr id="2097167" name="Picture 1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4823370"/>
            <a:ext cx="133350" cy="133350"/>
          </a:xfrm>
          <a:prstGeom prst="rect">
            <a:avLst/>
          </a:prstGeom>
        </p:spPr>
      </p:pic>
      <p:sp>
        <p:nvSpPr>
          <p:cNvPr id="1048618" name="TextBox 20"/>
          <p:cNvSpPr txBox="1"/>
          <p:nvPr/>
        </p:nvSpPr>
        <p:spPr>
          <a:xfrm>
            <a:off x="962025" y="3556545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19" name="TextBox 21"/>
          <p:cNvSpPr txBox="1"/>
          <p:nvPr/>
        </p:nvSpPr>
        <p:spPr>
          <a:xfrm>
            <a:off x="962025" y="3899445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20" name="TextBox 22"/>
          <p:cNvSpPr txBox="1"/>
          <p:nvPr/>
        </p:nvSpPr>
        <p:spPr>
          <a:xfrm>
            <a:off x="962025" y="4242345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21" name="TextBox 23"/>
          <p:cNvSpPr txBox="1"/>
          <p:nvPr/>
        </p:nvSpPr>
        <p:spPr>
          <a:xfrm>
            <a:off x="6629400" y="3670845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22" name="TextBox 24"/>
          <p:cNvSpPr txBox="1"/>
          <p:nvPr/>
        </p:nvSpPr>
        <p:spPr>
          <a:xfrm>
            <a:off x="6629400" y="4013745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23" name="TextBox 25"/>
          <p:cNvSpPr txBox="1"/>
          <p:nvPr/>
        </p:nvSpPr>
        <p:spPr>
          <a:xfrm>
            <a:off x="6629400" y="4356645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24" name="TextBox 26"/>
          <p:cNvSpPr txBox="1"/>
          <p:nvPr/>
        </p:nvSpPr>
        <p:spPr>
          <a:xfrm>
            <a:off x="666750" y="476250"/>
            <a:ext cx="11401425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2850" b="1" i="0" u="none">
                <a:solidFill>
                  <a:srgbClr val="2B1E17"/>
                </a:solidFill>
                <a:latin typeface="Merriweather"/>
              </a:rPr>
              <a:t>The Problem: Tight Coupling in Base Code</a:t>
            </a:r>
            <a:endParaRPr sz="2850" b="1" i="0" u="none">
              <a:solidFill>
                <a:srgbClr val="2B1E17"/>
              </a:solidFill>
              <a:latin typeface="Merriweather"/>
            </a:endParaRPr>
          </a:p>
        </p:txBody>
      </p:sp>
      <p:sp>
        <p:nvSpPr>
          <p:cNvPr id="1048625" name="Rectangle 27"/>
          <p:cNvSpPr/>
          <p:nvPr/>
        </p:nvSpPr>
        <p:spPr>
          <a:xfrm>
            <a:off x="666750" y="1038225"/>
            <a:ext cx="108585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32" name=""/>
        <p:cNvGrpSpPr/>
        <p:nvPr/>
      </p:nvGrpSpPr>
      <p:grpSpPr/>
      <p:pic>
        <p:nvPicPr>
          <p:cNvPr id="2097168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97169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2983259"/>
            <a:ext cx="3429000" cy="2493466"/>
          </a:xfrm>
          <a:prstGeom prst="rect">
            <a:avLst/>
          </a:prstGeom>
        </p:spPr>
      </p:pic>
      <p:pic>
        <p:nvPicPr>
          <p:cNvPr id="2097170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2983259"/>
            <a:ext cx="3429000" cy="2493466"/>
          </a:xfrm>
          <a:prstGeom prst="rect">
            <a:avLst/>
          </a:prstGeom>
        </p:spPr>
      </p:pic>
      <p:pic>
        <p:nvPicPr>
          <p:cNvPr id="2097171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0" y="2983259"/>
            <a:ext cx="3429000" cy="2493466"/>
          </a:xfrm>
          <a:prstGeom prst="rect">
            <a:avLst/>
          </a:prstGeom>
        </p:spPr>
      </p:pic>
      <p:sp>
        <p:nvSpPr>
          <p:cNvPr id="1048626" name="TextBox 5"/>
          <p:cNvSpPr txBox="1"/>
          <p:nvPr/>
        </p:nvSpPr>
        <p:spPr>
          <a:xfrm>
            <a:off x="666750" y="2257573"/>
            <a:ext cx="10858500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By creating abstract Java </a:t>
            </a:r>
            <a:r>
              <a:rPr sz="1200" b="1" i="0" u="none">
                <a:solidFill>
                  <a:srgbClr val="2B1E17"/>
                </a:solidFill>
                <a:latin typeface="DM Sans"/>
              </a:rPr>
              <a:t>Interfaces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, our code doesn't rely on concrete, hard-coded implementations. Instead, it interacts through reliable behavioral agreements.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pic>
        <p:nvPicPr>
          <p:cNvPr id="2097172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" y="3240434"/>
            <a:ext cx="476250" cy="476250"/>
          </a:xfrm>
          <a:prstGeom prst="rect">
            <a:avLst/>
          </a:prstGeom>
        </p:spPr>
      </p:pic>
      <p:sp>
        <p:nvSpPr>
          <p:cNvPr id="1048627" name="TextBox 7"/>
          <p:cNvSpPr txBox="1"/>
          <p:nvPr/>
        </p:nvSpPr>
        <p:spPr>
          <a:xfrm>
            <a:off x="923925" y="3907184"/>
            <a:ext cx="306038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1800" b="1" i="0" u="none">
                <a:solidFill>
                  <a:srgbClr val="D97706"/>
                </a:solidFill>
                <a:latin typeface="Merriweather"/>
              </a:rPr>
              <a:t>Discount Policies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628" name="TextBox 8"/>
          <p:cNvSpPr txBox="1"/>
          <p:nvPr/>
        </p:nvSpPr>
        <p:spPr>
          <a:xfrm>
            <a:off x="923925" y="4345334"/>
            <a:ext cx="291465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Defines how promotional discounts calculate reductions based on consumer demographics and legal codes.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pic>
        <p:nvPicPr>
          <p:cNvPr id="2097173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675" y="3240434"/>
            <a:ext cx="476250" cy="476250"/>
          </a:xfrm>
          <a:prstGeom prst="rect">
            <a:avLst/>
          </a:prstGeom>
        </p:spPr>
      </p:pic>
      <p:sp>
        <p:nvSpPr>
          <p:cNvPr id="1048629" name="TextBox 10"/>
          <p:cNvSpPr txBox="1"/>
          <p:nvPr/>
        </p:nvSpPr>
        <p:spPr>
          <a:xfrm>
            <a:off x="4638675" y="3907184"/>
            <a:ext cx="306038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1800" b="1" i="0" u="none">
                <a:solidFill>
                  <a:srgbClr val="D97706"/>
                </a:solidFill>
                <a:latin typeface="Merriweather"/>
              </a:rPr>
              <a:t>Tax Calculators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630" name="TextBox 11"/>
          <p:cNvSpPr txBox="1"/>
          <p:nvPr/>
        </p:nvSpPr>
        <p:spPr>
          <a:xfrm>
            <a:off x="4638675" y="4345334"/>
            <a:ext cx="291465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Encapsulates fiscal logic so regional VAT updates happen in a isolated layer without affecting core orders.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pic>
        <p:nvPicPr>
          <p:cNvPr id="2097174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3425" y="3240434"/>
            <a:ext cx="476250" cy="476250"/>
          </a:xfrm>
          <a:prstGeom prst="rect">
            <a:avLst/>
          </a:prstGeom>
        </p:spPr>
      </p:pic>
      <p:sp>
        <p:nvSpPr>
          <p:cNvPr id="1048631" name="TextBox 13"/>
          <p:cNvSpPr txBox="1"/>
          <p:nvPr/>
        </p:nvSpPr>
        <p:spPr>
          <a:xfrm>
            <a:off x="8353425" y="3907184"/>
            <a:ext cx="306038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1800" b="1" i="0" u="none">
                <a:solidFill>
                  <a:srgbClr val="D97706"/>
                </a:solidFill>
                <a:latin typeface="Merriweather"/>
              </a:rPr>
              <a:t>Output formatters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632" name="TextBox 14"/>
          <p:cNvSpPr txBox="1"/>
          <p:nvPr/>
        </p:nvSpPr>
        <p:spPr>
          <a:xfrm>
            <a:off x="8353425" y="4345334"/>
            <a:ext cx="291465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Handles the presentation level—allowing effortless output switches between Console, SMS, App or HTML receipts.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pic>
        <p:nvPicPr>
          <p:cNvPr id="2097175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5850" y="3383309"/>
            <a:ext cx="152400" cy="190500"/>
          </a:xfrm>
          <a:prstGeom prst="rect">
            <a:avLst/>
          </a:prstGeom>
        </p:spPr>
      </p:pic>
      <p:pic>
        <p:nvPicPr>
          <p:cNvPr id="2097176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5362" y="3383309"/>
            <a:ext cx="142875" cy="190500"/>
          </a:xfrm>
          <a:prstGeom prst="rect">
            <a:avLst/>
          </a:prstGeom>
        </p:spPr>
      </p:pic>
      <p:pic>
        <p:nvPicPr>
          <p:cNvPr id="2097177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0112" y="3383309"/>
            <a:ext cx="142875" cy="190500"/>
          </a:xfrm>
          <a:prstGeom prst="rect">
            <a:avLst/>
          </a:prstGeom>
        </p:spPr>
      </p:pic>
      <p:sp>
        <p:nvSpPr>
          <p:cNvPr id="1048633" name="TextBox 18"/>
          <p:cNvSpPr txBox="1"/>
          <p:nvPr/>
        </p:nvSpPr>
        <p:spPr>
          <a:xfrm>
            <a:off x="666750" y="476250"/>
            <a:ext cx="11401425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2850" b="1" i="0" u="none">
                <a:solidFill>
                  <a:srgbClr val="2B1E17"/>
                </a:solidFill>
                <a:latin typeface="Merriweather"/>
              </a:rPr>
              <a:t>The Solution: Interface-Driven Architecture</a:t>
            </a:r>
            <a:endParaRPr sz="2850" b="1" i="0" u="none">
              <a:solidFill>
                <a:srgbClr val="2B1E17"/>
              </a:solidFill>
              <a:latin typeface="Merriweather"/>
            </a:endParaRPr>
          </a:p>
        </p:txBody>
      </p:sp>
      <p:sp>
        <p:nvSpPr>
          <p:cNvPr id="1048634" name="Rectangle 19"/>
          <p:cNvSpPr/>
          <p:nvPr/>
        </p:nvSpPr>
        <p:spPr>
          <a:xfrm>
            <a:off x="666750" y="1038225"/>
            <a:ext cx="108585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33" name=""/>
        <p:cNvGrpSpPr/>
        <p:nvPr/>
      </p:nvGrpSpPr>
      <p:grpSpPr/>
      <p:pic>
        <p:nvPicPr>
          <p:cNvPr id="2097178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97179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125" y="2468016"/>
            <a:ext cx="5191125" cy="1500782"/>
          </a:xfrm>
          <a:prstGeom prst="rect">
            <a:avLst/>
          </a:prstGeom>
        </p:spPr>
      </p:pic>
      <p:sp>
        <p:nvSpPr>
          <p:cNvPr id="1048635" name="TextBox 3"/>
          <p:cNvSpPr txBox="1"/>
          <p:nvPr/>
        </p:nvSpPr>
        <p:spPr>
          <a:xfrm>
            <a:off x="666750" y="2468016"/>
            <a:ext cx="5450681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1800" b="1" i="0" u="none">
                <a:solidFill>
                  <a:srgbClr val="D97706"/>
                </a:solidFill>
                <a:latin typeface="Merriweather"/>
              </a:rPr>
              <a:t>Encapsulating Order State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636" name="TextBox 4"/>
          <p:cNvSpPr txBox="1"/>
          <p:nvPr/>
        </p:nvSpPr>
        <p:spPr>
          <a:xfrm>
            <a:off x="666750" y="2906166"/>
            <a:ext cx="5191125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Think of 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Order.java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as a clean, standardized digital order slip. Its sole job is to hold accurate transactional properties without calculating taxes, applying codes, or printing.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37" name="TextBox 5"/>
          <p:cNvSpPr txBox="1"/>
          <p:nvPr/>
        </p:nvSpPr>
        <p:spPr>
          <a:xfrm>
            <a:off x="933450" y="3780383"/>
            <a:ext cx="49244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customerName: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The consumer's identity (e.g., senior citizen status verification).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38" name="TextBox 6"/>
          <p:cNvSpPr txBox="1"/>
          <p:nvPr/>
        </p:nvSpPr>
        <p:spPr>
          <a:xfrm>
            <a:off x="933450" y="4351883"/>
            <a:ext cx="49244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coffeeType: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The purchased beverage.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39" name="TextBox 7"/>
          <p:cNvSpPr txBox="1"/>
          <p:nvPr/>
        </p:nvSpPr>
        <p:spPr>
          <a:xfrm>
            <a:off x="933450" y="4694783"/>
            <a:ext cx="49244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basePrice: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The raw menu price prior to applying discounts or local taxes.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40" name="TextBox 8"/>
          <p:cNvSpPr txBox="1"/>
          <p:nvPr/>
        </p:nvSpPr>
        <p:spPr>
          <a:xfrm>
            <a:off x="666750" y="3789908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41" name="TextBox 9"/>
          <p:cNvSpPr txBox="1"/>
          <p:nvPr/>
        </p:nvSpPr>
        <p:spPr>
          <a:xfrm>
            <a:off x="666750" y="4361408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42" name="TextBox 10"/>
          <p:cNvSpPr txBox="1"/>
          <p:nvPr/>
        </p:nvSpPr>
        <p:spPr>
          <a:xfrm>
            <a:off x="666750" y="4704308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43" name="TextBox 11"/>
          <p:cNvSpPr txBox="1"/>
          <p:nvPr/>
        </p:nvSpPr>
        <p:spPr>
          <a:xfrm>
            <a:off x="666750" y="476250"/>
            <a:ext cx="11401425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2850" b="1" i="0" u="none">
                <a:solidFill>
                  <a:srgbClr val="2B1E17"/>
                </a:solidFill>
                <a:latin typeface="Merriweather"/>
              </a:rPr>
              <a:t>Core Domain Model: Order.java</a:t>
            </a:r>
            <a:endParaRPr sz="2850" b="1" i="0" u="none">
              <a:solidFill>
                <a:srgbClr val="2B1E17"/>
              </a:solidFill>
              <a:latin typeface="Merriweather"/>
            </a:endParaRPr>
          </a:p>
        </p:txBody>
      </p:sp>
      <p:sp>
        <p:nvSpPr>
          <p:cNvPr id="1048644" name="Rectangle 12"/>
          <p:cNvSpPr/>
          <p:nvPr/>
        </p:nvSpPr>
        <p:spPr>
          <a:xfrm>
            <a:off x="666750" y="1038225"/>
            <a:ext cx="108585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34" name=""/>
        <p:cNvGrpSpPr/>
        <p:nvPr/>
      </p:nvGrpSpPr>
      <p:grpSpPr/>
      <p:pic>
        <p:nvPicPr>
          <p:cNvPr id="2097180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97181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3353692"/>
            <a:ext cx="10858500" cy="1704975"/>
          </a:xfrm>
          <a:prstGeom prst="rect">
            <a:avLst/>
          </a:prstGeom>
        </p:spPr>
      </p:pic>
      <p:sp>
        <p:nvSpPr>
          <p:cNvPr id="1048645" name="TextBox 3"/>
          <p:cNvSpPr txBox="1"/>
          <p:nvPr/>
        </p:nvSpPr>
        <p:spPr>
          <a:xfrm>
            <a:off x="666750" y="2675632"/>
            <a:ext cx="10858500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Using the 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DiscountPolicy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interface, we implemented clean compliance with local laws (such as Philippine RA 9994 for Senior Citizens &amp; PWDs) without altering core code.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graphicFrame>
        <p:nvGraphicFramePr>
          <p:cNvPr id="4194304" name="Table 4"/>
          <p:cNvGraphicFramePr>
            <a:graphicFrameLocks noGrp="1"/>
          </p:cNvGraphicFramePr>
          <p:nvPr/>
        </p:nvGraphicFramePr>
        <p:xfrm>
          <a:off x="676275" y="3363217"/>
          <a:ext cx="10839448" cy="16859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950"/>
                <a:gridCol w="1849784"/>
                <a:gridCol w="3392834"/>
                <a:gridCol w="3329880"/>
              </a:tblGrid>
              <a:tr h="561975"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FAF6F0"/>
                          </a:solidFill>
                          <a:latin typeface="Merriweather"/>
                        </a:rPr>
                        <a:t>Policy Implementation</a:t>
                      </a:r>
                      <a:endParaRPr sz="1200" b="1" i="0" u="none">
                        <a:solidFill>
                          <a:srgbClr val="FAF6F0"/>
                        </a:solidFill>
                        <a:latin typeface="Merriweath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B1E17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FAF6F0"/>
                          </a:solidFill>
                          <a:latin typeface="Merriweather"/>
                        </a:rPr>
                        <a:t>Target Audience</a:t>
                      </a:r>
                      <a:endParaRPr sz="1200" b="1" i="0" u="none">
                        <a:solidFill>
                          <a:srgbClr val="FAF6F0"/>
                        </a:solidFill>
                        <a:latin typeface="Merriweath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B1E17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FAF6F0"/>
                          </a:solidFill>
                          <a:latin typeface="Merriweather"/>
                        </a:rPr>
                        <a:t>Calculated Impact</a:t>
                      </a:r>
                      <a:endParaRPr sz="1200" b="1" i="0" u="none">
                        <a:solidFill>
                          <a:srgbClr val="FAF6F0"/>
                        </a:solidFill>
                        <a:latin typeface="Merriweath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B1E17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FAF6F0"/>
                          </a:solidFill>
                          <a:latin typeface="Merriweather"/>
                        </a:rPr>
                        <a:t>Code Architecture Impact</a:t>
                      </a:r>
                      <a:endParaRPr sz="1200" b="1" i="0" u="none">
                        <a:solidFill>
                          <a:srgbClr val="FAF6F0"/>
                        </a:solidFill>
                        <a:latin typeface="Merriweath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B1E17"/>
                    </a:solidFill>
                  </a:tcPr>
                </a:tc>
              </a:tr>
              <a:tr h="561975">
                <a:tc>
                  <a:txBody>
                    <a:bodyPr/>
                    <a:p>
                      <a:pPr algn="l"/>
                      <a:r>
                        <a:rPr sz="1050" b="1" i="0" u="none">
                          <a:solidFill>
                            <a:srgbClr val="4A3E3D"/>
                          </a:solidFill>
                          <a:latin typeface="DM Sans"/>
                        </a:rPr>
                        <a:t>NoDiscountPolicy</a:t>
                      </a:r>
                      <a:endParaRPr sz="1050" b="1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Regular Walk-in Customers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Returns the unaltered baseline menu price. (₱150.00 → ₱150.00)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Allows standard transaction pipelines without special bypass logic.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</a:tr>
              <a:tr h="561975">
                <a:tc>
                  <a:txBody>
                    <a:bodyPr/>
                    <a:p>
                      <a:pPr algn="l"/>
                      <a:r>
                        <a:rPr sz="1050" b="1" i="0" u="none">
                          <a:solidFill>
                            <a:srgbClr val="4A3E3D"/>
                          </a:solidFill>
                          <a:latin typeface="DM Sans"/>
                        </a:rPr>
                        <a:t>SeniorCitizenDiscountPolicy</a:t>
                      </a:r>
                      <a:endParaRPr sz="1050" b="1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Senior Citizens &amp; PWDs (RA 9994)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Subtracts a clean 20% flat discount before applying taxes. (₱90.00 → ₱72.00)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Implemented cleanly in a separate class. Swappable with zero side effects.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</a:tr>
            </a:tbl>
          </a:graphicData>
        </a:graphic>
      </p:graphicFrame>
      <p:sp>
        <p:nvSpPr>
          <p:cNvPr id="1048646" name="Rectangle 5"/>
          <p:cNvSpPr/>
          <p:nvPr/>
        </p:nvSpPr>
        <p:spPr>
          <a:xfrm>
            <a:off x="676275" y="4425255"/>
            <a:ext cx="2266950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647" name="Rectangle 6"/>
          <p:cNvSpPr/>
          <p:nvPr/>
        </p:nvSpPr>
        <p:spPr>
          <a:xfrm>
            <a:off x="2943225" y="4425255"/>
            <a:ext cx="1849784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648" name="Rectangle 7"/>
          <p:cNvSpPr/>
          <p:nvPr/>
        </p:nvSpPr>
        <p:spPr>
          <a:xfrm>
            <a:off x="4793009" y="4425255"/>
            <a:ext cx="3392834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649" name="Rectangle 8"/>
          <p:cNvSpPr/>
          <p:nvPr/>
        </p:nvSpPr>
        <p:spPr>
          <a:xfrm>
            <a:off x="8185844" y="4425255"/>
            <a:ext cx="3329880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650" name="TextBox 9"/>
          <p:cNvSpPr txBox="1"/>
          <p:nvPr/>
        </p:nvSpPr>
        <p:spPr>
          <a:xfrm>
            <a:off x="666750" y="476250"/>
            <a:ext cx="11401425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2850" b="1" i="0" u="none">
                <a:solidFill>
                  <a:srgbClr val="2B1E17"/>
                </a:solidFill>
                <a:latin typeface="Merriweather"/>
              </a:rPr>
              <a:t>Dynamic Discount Policies</a:t>
            </a:r>
            <a:endParaRPr sz="2850" b="1" i="0" u="none">
              <a:solidFill>
                <a:srgbClr val="2B1E17"/>
              </a:solidFill>
              <a:latin typeface="Merriweather"/>
            </a:endParaRPr>
          </a:p>
        </p:txBody>
      </p:sp>
      <p:sp>
        <p:nvSpPr>
          <p:cNvPr id="1048651" name="Rectangle 10"/>
          <p:cNvSpPr/>
          <p:nvPr/>
        </p:nvSpPr>
        <p:spPr>
          <a:xfrm>
            <a:off x="666750" y="1038225"/>
            <a:ext cx="108585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35" name=""/>
        <p:cNvGrpSpPr/>
        <p:nvPr/>
      </p:nvGrpSpPr>
      <p:grpSpPr/>
      <p:pic>
        <p:nvPicPr>
          <p:cNvPr id="209718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9718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2867025"/>
            <a:ext cx="4343400" cy="2000250"/>
          </a:xfrm>
          <a:prstGeom prst="rect">
            <a:avLst/>
          </a:prstGeom>
        </p:spPr>
      </p:pic>
      <p:sp>
        <p:nvSpPr>
          <p:cNvPr id="1048652" name="TextBox 3"/>
          <p:cNvSpPr txBox="1"/>
          <p:nvPr/>
        </p:nvSpPr>
        <p:spPr>
          <a:xfrm>
            <a:off x="1047750" y="3248025"/>
            <a:ext cx="3581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>
              <a:lnSpc>
                <a:spcPts val="7200"/>
              </a:lnSpc>
            </a:pPr>
            <a:r>
              <a:rPr sz="7200" b="1" i="0" u="none">
                <a:solidFill>
                  <a:srgbClr val="FAF6F0"/>
                </a:solidFill>
                <a:latin typeface="Merriweather"/>
              </a:rPr>
              <a:t>12%</a:t>
            </a:r>
            <a:endParaRPr sz="7200" b="1" i="0" u="none">
              <a:solidFill>
                <a:srgbClr val="FAF6F0"/>
              </a:solidFill>
              <a:latin typeface="Merriweather"/>
            </a:endParaRPr>
          </a:p>
        </p:txBody>
      </p:sp>
      <p:sp>
        <p:nvSpPr>
          <p:cNvPr id="1048653" name="TextBox 4"/>
          <p:cNvSpPr txBox="1"/>
          <p:nvPr/>
        </p:nvSpPr>
        <p:spPr>
          <a:xfrm>
            <a:off x="1047750" y="4257675"/>
            <a:ext cx="35814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/>
            <a:r>
              <a:rPr sz="1350" b="1" i="0" u="none">
                <a:solidFill>
                  <a:srgbClr val="D97706"/>
                </a:solidFill>
                <a:latin typeface="DM Sans"/>
              </a:rPr>
              <a:t>VALUE ADDED TAX</a:t>
            </a:r>
            <a:endParaRPr sz="1350" b="1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54" name="TextBox 5"/>
          <p:cNvSpPr txBox="1"/>
          <p:nvPr/>
        </p:nvSpPr>
        <p:spPr>
          <a:xfrm>
            <a:off x="5391150" y="2513707"/>
            <a:ext cx="68008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1800" b="1" i="0" u="none">
                <a:solidFill>
                  <a:srgbClr val="D97706"/>
                </a:solidFill>
                <a:latin typeface="Merriweather"/>
              </a:rPr>
              <a:t>Decoupling Regional Fiscal Math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655" name="TextBox 6"/>
          <p:cNvSpPr txBox="1"/>
          <p:nvPr/>
        </p:nvSpPr>
        <p:spPr>
          <a:xfrm>
            <a:off x="5391150" y="2951857"/>
            <a:ext cx="6515100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Tax legislation changes constantly. In our redesigned software system, the 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TaxCalculator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interface isolates these numbers cleanly.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56" name="TextBox 7"/>
          <p:cNvSpPr txBox="1"/>
          <p:nvPr/>
        </p:nvSpPr>
        <p:spPr>
          <a:xfrm>
            <a:off x="5657850" y="3582292"/>
            <a:ext cx="624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VatTaxCalculator: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Outlines standard Philippine 12% VAT calculations.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57" name="TextBox 8"/>
          <p:cNvSpPr txBox="1"/>
          <p:nvPr/>
        </p:nvSpPr>
        <p:spPr>
          <a:xfrm>
            <a:off x="5657850" y="3925192"/>
            <a:ext cx="624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Mathematical Formula:</a:t>
            </a:r>
            <a:endParaRPr sz="1200" b="1" i="0" u="none">
              <a:solidFill>
                <a:srgbClr val="2B1E17"/>
              </a:solidFill>
              <a:latin typeface="DM Sans"/>
            </a:endParaRPr>
          </a:p>
        </p:txBody>
      </p:sp>
      <p:sp>
        <p:nvSpPr>
          <p:cNvPr id="1048658" name="TextBox 9"/>
          <p:cNvSpPr txBox="1"/>
          <p:nvPr/>
        </p:nvSpPr>
        <p:spPr>
          <a:xfrm>
            <a:off x="5657850" y="4420492"/>
            <a:ext cx="624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Clean Modifiability: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If regional sales taxes change from 12% to 15%, we update just one clean number in 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VatTaxCalculator.java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. The remaining order logic continues running seamlessly.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59" name="TextBox 10"/>
          <p:cNvSpPr txBox="1"/>
          <p:nvPr/>
        </p:nvSpPr>
        <p:spPr>
          <a:xfrm>
            <a:off x="5391150" y="3591817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60" name="TextBox 11"/>
          <p:cNvSpPr txBox="1"/>
          <p:nvPr/>
        </p:nvSpPr>
        <p:spPr>
          <a:xfrm>
            <a:off x="5391150" y="3934717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pic>
        <p:nvPicPr>
          <p:cNvPr id="2097184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7850" y="4153792"/>
            <a:ext cx="6248400" cy="152400"/>
          </a:xfrm>
          <a:prstGeom prst="rect">
            <a:avLst/>
          </a:prstGeom>
        </p:spPr>
      </p:pic>
      <p:sp>
        <p:nvSpPr>
          <p:cNvPr id="1048661" name="TextBox 13"/>
          <p:cNvSpPr txBox="1"/>
          <p:nvPr/>
        </p:nvSpPr>
        <p:spPr>
          <a:xfrm>
            <a:off x="5391150" y="4430017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62" name="TextBox 14"/>
          <p:cNvSpPr txBox="1"/>
          <p:nvPr/>
        </p:nvSpPr>
        <p:spPr>
          <a:xfrm>
            <a:off x="666750" y="476250"/>
            <a:ext cx="11401425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2850" b="1" i="0" u="none">
                <a:solidFill>
                  <a:srgbClr val="2B1E17"/>
                </a:solidFill>
                <a:latin typeface="Merriweather"/>
              </a:rPr>
              <a:t>Flexible Tax Calculations</a:t>
            </a:r>
            <a:endParaRPr sz="2850" b="1" i="0" u="none">
              <a:solidFill>
                <a:srgbClr val="2B1E17"/>
              </a:solidFill>
              <a:latin typeface="Merriweather"/>
            </a:endParaRPr>
          </a:p>
        </p:txBody>
      </p:sp>
      <p:sp>
        <p:nvSpPr>
          <p:cNvPr id="1048663" name="Rectangle 15"/>
          <p:cNvSpPr/>
          <p:nvPr/>
        </p:nvSpPr>
        <p:spPr>
          <a:xfrm>
            <a:off x="666750" y="1038225"/>
            <a:ext cx="108585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36" name=""/>
        <p:cNvGrpSpPr/>
        <p:nvPr/>
      </p:nvGrpSpPr>
      <p:grpSpPr/>
      <p:pic>
        <p:nvPicPr>
          <p:cNvPr id="2097185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97186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2592734"/>
            <a:ext cx="5191125" cy="3030735"/>
          </a:xfrm>
          <a:prstGeom prst="rect">
            <a:avLst/>
          </a:prstGeom>
        </p:spPr>
      </p:pic>
      <p:pic>
        <p:nvPicPr>
          <p:cNvPr id="2097187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25" y="2592734"/>
            <a:ext cx="5191125" cy="3030735"/>
          </a:xfrm>
          <a:prstGeom prst="rect">
            <a:avLst/>
          </a:prstGeom>
        </p:spPr>
      </p:pic>
      <p:sp>
        <p:nvSpPr>
          <p:cNvPr id="1048664" name="TextBox 4"/>
          <p:cNvSpPr txBox="1"/>
          <p:nvPr/>
        </p:nvSpPr>
        <p:spPr>
          <a:xfrm>
            <a:off x="666750" y="2110829"/>
            <a:ext cx="10858500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Our code clearly separates receipt layout presentation from actual data storage mechanisms using targeted Interfaces.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65" name="TextBox 5"/>
          <p:cNvSpPr txBox="1"/>
          <p:nvPr/>
        </p:nvSpPr>
        <p:spPr>
          <a:xfrm>
            <a:off x="962025" y="2888009"/>
            <a:ext cx="4830603" cy="266700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p>
            <a:pPr algn="l"/>
            <a:r>
              <a:rPr sz="1800" b="1" i="0" u="none">
                <a:solidFill>
                  <a:srgbClr val="D97706"/>
                </a:solidFill>
                <a:latin typeface="Merriweather"/>
              </a:rPr>
              <a:t>ReceiptFormatter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666" name="TextBox 6"/>
          <p:cNvSpPr txBox="1"/>
          <p:nvPr/>
        </p:nvSpPr>
        <p:spPr>
          <a:xfrm>
            <a:off x="962025" y="3326159"/>
            <a:ext cx="4600575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Constructs formatted human-readable strings from raw transaction statistics.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67" name="TextBox 7"/>
          <p:cNvSpPr txBox="1"/>
          <p:nvPr/>
        </p:nvSpPr>
        <p:spPr>
          <a:xfrm>
            <a:off x="6629400" y="3124200"/>
            <a:ext cx="4830603" cy="266700"/>
          </a:xfrm>
          <a:prstGeom prst="rect">
            <a:avLst/>
          </a:prstGeom>
          <a:noFill/>
        </p:spPr>
        <p:txBody>
          <a:bodyPr wrap="square" lIns="295275" tIns="0" rIns="0" bIns="0" anchor="t">
            <a:spAutoFit/>
          </a:bodyPr>
          <a:p>
            <a:pPr algn="l"/>
            <a:r>
              <a:rPr sz="1800" b="1" i="0" u="none">
                <a:solidFill>
                  <a:srgbClr val="D97706"/>
                </a:solidFill>
                <a:latin typeface="Merriweather"/>
              </a:rPr>
              <a:t>OrderRepository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668" name="TextBox 8"/>
          <p:cNvSpPr txBox="1"/>
          <p:nvPr/>
        </p:nvSpPr>
        <p:spPr>
          <a:xfrm>
            <a:off x="6629400" y="3562350"/>
            <a:ext cx="4600575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Specifies standard CRUD operations to safely store records.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pic>
        <p:nvPicPr>
          <p:cNvPr id="2097188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025" y="2916584"/>
            <a:ext cx="171450" cy="228600"/>
          </a:xfrm>
          <a:prstGeom prst="rect">
            <a:avLst/>
          </a:prstGeom>
        </p:spPr>
      </p:pic>
      <p:sp>
        <p:nvSpPr>
          <p:cNvPr id="1048669" name="TextBox 10"/>
          <p:cNvSpPr txBox="1"/>
          <p:nvPr/>
        </p:nvSpPr>
        <p:spPr>
          <a:xfrm>
            <a:off x="1228725" y="3956595"/>
            <a:ext cx="43338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PlainTextReceiptFormatter: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Formats standard POS receipt outputs.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70" name="TextBox 11"/>
          <p:cNvSpPr txBox="1"/>
          <p:nvPr/>
        </p:nvSpPr>
        <p:spPr>
          <a:xfrm>
            <a:off x="1228725" y="4528095"/>
            <a:ext cx="43338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Future Extensibility: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Easily introduce HTML, PDF, SMS or Email receipt formatters without breaking current log streams.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pic>
        <p:nvPicPr>
          <p:cNvPr id="2097189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152775"/>
            <a:ext cx="200025" cy="228600"/>
          </a:xfrm>
          <a:prstGeom prst="rect">
            <a:avLst/>
          </a:prstGeom>
        </p:spPr>
      </p:pic>
      <p:sp>
        <p:nvSpPr>
          <p:cNvPr id="1048671" name="TextBox 13"/>
          <p:cNvSpPr txBox="1"/>
          <p:nvPr/>
        </p:nvSpPr>
        <p:spPr>
          <a:xfrm>
            <a:off x="6896100" y="3949005"/>
            <a:ext cx="43338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FileOrderRepository: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Directly writes clean records to 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orders_log.txt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72" name="TextBox 14"/>
          <p:cNvSpPr txBox="1"/>
          <p:nvPr/>
        </p:nvSpPr>
        <p:spPr>
          <a:xfrm>
            <a:off x="6896100" y="4520505"/>
            <a:ext cx="43338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Enterprise Upgrades: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Switch to PostgreSQL, MongoDB or cloud servers in minutes by implementing a new class.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73" name="TextBox 15"/>
          <p:cNvSpPr txBox="1"/>
          <p:nvPr/>
        </p:nvSpPr>
        <p:spPr>
          <a:xfrm>
            <a:off x="962025" y="3966120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74" name="TextBox 16"/>
          <p:cNvSpPr txBox="1"/>
          <p:nvPr/>
        </p:nvSpPr>
        <p:spPr>
          <a:xfrm>
            <a:off x="962025" y="4537620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75" name="TextBox 17"/>
          <p:cNvSpPr txBox="1"/>
          <p:nvPr/>
        </p:nvSpPr>
        <p:spPr>
          <a:xfrm>
            <a:off x="6629400" y="3958530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76" name="TextBox 18"/>
          <p:cNvSpPr txBox="1"/>
          <p:nvPr/>
        </p:nvSpPr>
        <p:spPr>
          <a:xfrm>
            <a:off x="6629400" y="4530030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677" name="TextBox 19"/>
          <p:cNvSpPr txBox="1"/>
          <p:nvPr/>
        </p:nvSpPr>
        <p:spPr>
          <a:xfrm>
            <a:off x="666750" y="476250"/>
            <a:ext cx="11401425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2850" b="1" i="0" u="none">
                <a:solidFill>
                  <a:srgbClr val="2B1E17"/>
                </a:solidFill>
                <a:latin typeface="Merriweather"/>
              </a:rPr>
              <a:t>Output Formatters &amp; File Repositories</a:t>
            </a:r>
            <a:endParaRPr sz="2850" b="1" i="0" u="none">
              <a:solidFill>
                <a:srgbClr val="2B1E17"/>
              </a:solidFill>
              <a:latin typeface="Merriweather"/>
            </a:endParaRPr>
          </a:p>
        </p:txBody>
      </p:sp>
      <p:sp>
        <p:nvSpPr>
          <p:cNvPr id="1048678" name="Rectangle 20"/>
          <p:cNvSpPr/>
          <p:nvPr/>
        </p:nvSpPr>
        <p:spPr>
          <a:xfrm>
            <a:off x="666750" y="1038225"/>
            <a:ext cx="108585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37" name=""/>
        <p:cNvGrpSpPr/>
        <p:nvPr/>
      </p:nvGrpSpPr>
      <p:grpSpPr/>
      <p:pic>
        <p:nvPicPr>
          <p:cNvPr id="2097190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97191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2709862"/>
            <a:ext cx="3429000" cy="2493466"/>
          </a:xfrm>
          <a:prstGeom prst="rect">
            <a:avLst/>
          </a:prstGeom>
        </p:spPr>
      </p:pic>
      <p:pic>
        <p:nvPicPr>
          <p:cNvPr id="2097192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2709862"/>
            <a:ext cx="3429000" cy="2493466"/>
          </a:xfrm>
          <a:prstGeom prst="rect">
            <a:avLst/>
          </a:prstGeom>
        </p:spPr>
      </p:pic>
      <p:pic>
        <p:nvPicPr>
          <p:cNvPr id="2097193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0" y="2709862"/>
            <a:ext cx="3429000" cy="2493466"/>
          </a:xfrm>
          <a:prstGeom prst="rect">
            <a:avLst/>
          </a:prstGeom>
        </p:spPr>
      </p:pic>
      <p:sp>
        <p:nvSpPr>
          <p:cNvPr id="1048679" name="TextBox 5"/>
          <p:cNvSpPr txBox="1"/>
          <p:nvPr/>
        </p:nvSpPr>
        <p:spPr>
          <a:xfrm>
            <a:off x="666750" y="2031801"/>
            <a:ext cx="10858500" cy="2438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Instead of doing all the heavy lifting, 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OrderProcessor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is now simply the manager. It orchestrates helper classes to run the workflow steps in perfect sequence: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80" name="TextBox 6"/>
          <p:cNvSpPr txBox="1"/>
          <p:nvPr/>
        </p:nvSpPr>
        <p:spPr>
          <a:xfrm>
            <a:off x="666750" y="5346203"/>
            <a:ext cx="10858500" cy="2132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>
              <a:lnSpc>
                <a:spcPts val="1680"/>
              </a:lnSpc>
            </a:pPr>
            <a:r>
              <a:rPr sz="1050" b="0" i="1" u="none">
                <a:solidFill>
                  <a:srgbClr val="D97706"/>
                </a:solidFill>
                <a:latin typeface="DM Sans"/>
              </a:rPr>
              <a:t>This implementation uses "Dependency Injection" (DI) — swappable helper components are handed to the manager, ready to be used.</a:t>
            </a:r>
            <a:endParaRPr sz="1050" b="0" i="1" u="none">
              <a:solidFill>
                <a:srgbClr val="D97706"/>
              </a:solidFill>
              <a:latin typeface="DM Sans"/>
            </a:endParaRPr>
          </a:p>
        </p:txBody>
      </p:sp>
      <p:pic>
        <p:nvPicPr>
          <p:cNvPr id="2097194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" y="2967037"/>
            <a:ext cx="476250" cy="476250"/>
          </a:xfrm>
          <a:prstGeom prst="rect">
            <a:avLst/>
          </a:prstGeom>
        </p:spPr>
      </p:pic>
      <p:sp>
        <p:nvSpPr>
          <p:cNvPr id="1048681" name="TextBox 8"/>
          <p:cNvSpPr txBox="1"/>
          <p:nvPr/>
        </p:nvSpPr>
        <p:spPr>
          <a:xfrm>
            <a:off x="923925" y="3633787"/>
            <a:ext cx="306038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1800" b="1" i="0" u="none">
                <a:solidFill>
                  <a:srgbClr val="D97706"/>
                </a:solidFill>
                <a:latin typeface="Merriweather"/>
              </a:rPr>
              <a:t>1. Apply Discount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682" name="TextBox 9"/>
          <p:cNvSpPr txBox="1"/>
          <p:nvPr/>
        </p:nvSpPr>
        <p:spPr>
          <a:xfrm>
            <a:off x="923925" y="4071937"/>
            <a:ext cx="291465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Calls the designated 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DiscountPolicy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to find the correct discounted price threshold.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pic>
        <p:nvPicPr>
          <p:cNvPr id="2097195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675" y="2967037"/>
            <a:ext cx="476250" cy="476250"/>
          </a:xfrm>
          <a:prstGeom prst="rect">
            <a:avLst/>
          </a:prstGeom>
        </p:spPr>
      </p:pic>
      <p:sp>
        <p:nvSpPr>
          <p:cNvPr id="1048683" name="TextBox 11"/>
          <p:cNvSpPr txBox="1"/>
          <p:nvPr/>
        </p:nvSpPr>
        <p:spPr>
          <a:xfrm>
            <a:off x="4638675" y="3633787"/>
            <a:ext cx="306038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1800" b="1" i="0" u="none">
                <a:solidFill>
                  <a:srgbClr val="D97706"/>
                </a:solidFill>
                <a:latin typeface="Merriweather"/>
              </a:rPr>
              <a:t>2. Calculate Tax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684" name="TextBox 12"/>
          <p:cNvSpPr txBox="1"/>
          <p:nvPr/>
        </p:nvSpPr>
        <p:spPr>
          <a:xfrm>
            <a:off x="4638675" y="4071937"/>
            <a:ext cx="2914650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Asks the assigned 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TaxCalculator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to compute the final, tax-inclusive price.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pic>
        <p:nvPicPr>
          <p:cNvPr id="2097196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3425" y="2967037"/>
            <a:ext cx="476250" cy="476250"/>
          </a:xfrm>
          <a:prstGeom prst="rect">
            <a:avLst/>
          </a:prstGeom>
        </p:spPr>
      </p:pic>
      <p:sp>
        <p:nvSpPr>
          <p:cNvPr id="1048685" name="TextBox 14"/>
          <p:cNvSpPr txBox="1"/>
          <p:nvPr/>
        </p:nvSpPr>
        <p:spPr>
          <a:xfrm>
            <a:off x="8353425" y="3633787"/>
            <a:ext cx="306038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1800" b="1" i="0" u="none">
                <a:solidFill>
                  <a:srgbClr val="D97706"/>
                </a:solidFill>
                <a:latin typeface="Merriweather"/>
              </a:rPr>
              <a:t>3. Format &amp; Save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686" name="TextBox 15"/>
          <p:cNvSpPr txBox="1"/>
          <p:nvPr/>
        </p:nvSpPr>
        <p:spPr>
          <a:xfrm>
            <a:off x="8353425" y="4071937"/>
            <a:ext cx="291465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Triggers the 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ReceiptFormatter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and outputs the results cleanly using 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OrderRepository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pic>
        <p:nvPicPr>
          <p:cNvPr id="2097197" name="Picture 1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800" y="3109912"/>
            <a:ext cx="190500" cy="190500"/>
          </a:xfrm>
          <a:prstGeom prst="rect">
            <a:avLst/>
          </a:prstGeom>
        </p:spPr>
      </p:pic>
      <p:pic>
        <p:nvPicPr>
          <p:cNvPr id="2097198" name="Picture 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5362" y="3109912"/>
            <a:ext cx="142875" cy="190500"/>
          </a:xfrm>
          <a:prstGeom prst="rect">
            <a:avLst/>
          </a:prstGeom>
        </p:spPr>
      </p:pic>
      <p:pic>
        <p:nvPicPr>
          <p:cNvPr id="2097199" name="Picture 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0112" y="3109912"/>
            <a:ext cx="142875" cy="190500"/>
          </a:xfrm>
          <a:prstGeom prst="rect">
            <a:avLst/>
          </a:prstGeom>
        </p:spPr>
      </p:pic>
      <p:sp>
        <p:nvSpPr>
          <p:cNvPr id="1048687" name="TextBox 19"/>
          <p:cNvSpPr txBox="1"/>
          <p:nvPr/>
        </p:nvSpPr>
        <p:spPr>
          <a:xfrm>
            <a:off x="666750" y="476250"/>
            <a:ext cx="11401425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2850" b="1" i="0" u="none">
                <a:solidFill>
                  <a:srgbClr val="2B1E17"/>
                </a:solidFill>
                <a:latin typeface="Merriweather"/>
              </a:rPr>
              <a:t>The Coordinator: OrderProcessor</a:t>
            </a:r>
            <a:endParaRPr sz="2850" b="1" i="0" u="none">
              <a:solidFill>
                <a:srgbClr val="2B1E17"/>
              </a:solidFill>
              <a:latin typeface="Merriweather"/>
            </a:endParaRPr>
          </a:p>
        </p:txBody>
      </p:sp>
      <p:sp>
        <p:nvSpPr>
          <p:cNvPr id="1048688" name="Rectangle 20"/>
          <p:cNvSpPr/>
          <p:nvPr/>
        </p:nvSpPr>
        <p:spPr>
          <a:xfrm>
            <a:off x="666750" y="1038225"/>
            <a:ext cx="108585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33" name=""/>
        <p:cNvGrpSpPr/>
        <p:nvPr/>
      </p:nvGrpSpPr>
      <p:grpSpPr/>
      <p:pic>
        <p:nvPicPr>
          <p:cNvPr id="2097178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97179" name="Flowchart Image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101" y="1900000"/>
            <a:ext cx="3730681" cy="4572000"/>
          </a:xfrm>
          <a:prstGeom prst="rect">
            <a:avLst/>
          </a:prstGeom>
          <a:effectLst>
            <a:outerShdw blurRad="90000" dist="30000" dir="5400000" rotWithShape="0">
              <a:srgbClr val="000000">
                <a:alpha val="25000"/>
              </a:srgbClr>
            </a:outerShdw>
          </a:effectLst>
        </p:spPr>
      </p:pic>
      <p:sp>
        <p:nvSpPr>
          <p:cNvPr id="1048635" name="TextBox 3"/>
          <p:cNvSpPr txBox="1"/>
          <p:nvPr/>
        </p:nvSpPr>
        <p:spPr>
          <a:xfrm>
            <a:off x="666750" y="1143000"/>
            <a:ext cx="5450681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1800" b="1" i="0" u="none">
                <a:solidFill>
                  <a:srgbClr val="D97706"/>
                </a:solidFill>
                <a:latin typeface="Merriweather"/>
              </a:rPr>
              <a:t>Visual Reference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636" name="TextBox 4"/>
          <p:cNvSpPr txBox="1"/>
          <p:nvPr/>
        </p:nvSpPr>
        <p:spPr>
          <a:xfrm>
            <a:off x="666750" y="1470025"/>
            <a:ext cx="10858500" cy="274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Styled after the system’s own printed receipt — each stamped step below is one method call in the OrderProcessor pipeline.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643" name="TextBox 11"/>
          <p:cNvSpPr txBox="1"/>
          <p:nvPr/>
        </p:nvSpPr>
        <p:spPr>
          <a:xfrm>
            <a:off x="666750" y="476250"/>
            <a:ext cx="11401425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2850" b="1" i="0" u="none">
                <a:solidFill>
                  <a:srgbClr val="2B1E17"/>
                </a:solidFill>
                <a:latin typeface="Merriweather"/>
              </a:rPr>
              <a:t>Flowchart: How an Order Is Processed</a:t>
            </a:r>
            <a:endParaRPr sz="2850" b="1" i="0" u="none">
              <a:solidFill>
                <a:srgbClr val="2B1E17"/>
              </a:solidFill>
              <a:latin typeface="Merriweather"/>
            </a:endParaRPr>
          </a:p>
        </p:txBody>
      </p:sp>
      <p:sp>
        <p:nvSpPr>
          <p:cNvPr id="1048644" name="Rectangle 12"/>
          <p:cNvSpPr/>
          <p:nvPr/>
        </p:nvSpPr>
        <p:spPr>
          <a:xfrm>
            <a:off x="666750" y="1038225"/>
            <a:ext cx="108585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38" name=""/>
        <p:cNvGrpSpPr/>
        <p:nvPr/>
      </p:nvGrpSpPr>
      <p:grpSpPr/>
      <p:pic>
        <p:nvPicPr>
          <p:cNvPr id="2097200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97201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2731740"/>
            <a:ext cx="10858500" cy="2705100"/>
          </a:xfrm>
          <a:prstGeom prst="rect">
            <a:avLst/>
          </a:prstGeom>
        </p:spPr>
      </p:pic>
      <p:sp>
        <p:nvSpPr>
          <p:cNvPr id="1048689" name="TextBox 3"/>
          <p:cNvSpPr txBox="1"/>
          <p:nvPr/>
        </p:nvSpPr>
        <p:spPr>
          <a:xfrm>
            <a:off x="666750" y="2297459"/>
            <a:ext cx="10858500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We divided the monolithic base code into 9 focused classes. Here is the transformation summary: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graphicFrame>
        <p:nvGraphicFramePr>
          <p:cNvPr id="4194305" name="Table 4"/>
          <p:cNvGraphicFramePr>
            <a:graphicFrameLocks noGrp="1"/>
          </p:cNvGraphicFramePr>
          <p:nvPr/>
        </p:nvGraphicFramePr>
        <p:xfrm>
          <a:off x="676275" y="2741265"/>
          <a:ext cx="10839448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8325"/>
                <a:gridCol w="1460896"/>
                <a:gridCol w="5870227"/>
              </a:tblGrid>
              <a:tr h="447675"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FAF6F0"/>
                          </a:solidFill>
                          <a:latin typeface="Merriweather"/>
                        </a:rPr>
                        <a:t>Refactored Class File</a:t>
                      </a:r>
                      <a:endParaRPr sz="1200" b="1" i="0" u="none">
                        <a:solidFill>
                          <a:srgbClr val="FAF6F0"/>
                        </a:solidFill>
                        <a:latin typeface="Merriweath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B1E17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FAF6F0"/>
                          </a:solidFill>
                          <a:latin typeface="Merriweather"/>
                        </a:rPr>
                        <a:t>Classification</a:t>
                      </a:r>
                      <a:endParaRPr sz="1200" b="1" i="0" u="none">
                        <a:solidFill>
                          <a:srgbClr val="FAF6F0"/>
                        </a:solidFill>
                        <a:latin typeface="Merriweath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B1E17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FAF6F0"/>
                          </a:solidFill>
                          <a:latin typeface="Merriweather"/>
                        </a:rPr>
                        <a:t>Primary Responsibility</a:t>
                      </a:r>
                      <a:endParaRPr sz="1200" b="1" i="0" u="none">
                        <a:solidFill>
                          <a:srgbClr val="FAF6F0"/>
                        </a:solidFill>
                        <a:latin typeface="Merriweathe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B1E17"/>
                    </a:solidFill>
                  </a:tcPr>
                </a:tc>
              </a:tr>
              <a:tr h="447675">
                <a:tc>
                  <a:txBody>
                    <a:bodyPr/>
                    <a:p>
                      <a:pPr algn="l"/>
                      <a:r>
                        <a:rPr sz="1050" b="1" i="0" u="none">
                          <a:solidFill>
                            <a:srgbClr val="4A3E3D"/>
                          </a:solidFill>
                          <a:latin typeface="DM Sans"/>
                        </a:rPr>
                        <a:t>Order.java</a:t>
                      </a:r>
                      <a:endParaRPr sz="1050" b="1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Domain Model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An immutable transactional model representing basic order state details.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</a:tr>
              <a:tr h="447675">
                <a:tc>
                  <a:txBody>
                    <a:bodyPr/>
                    <a:p>
                      <a:pPr algn="l"/>
                      <a:r>
                        <a:rPr sz="1050" b="1" i="0" u="none">
                          <a:solidFill>
                            <a:srgbClr val="4A3E3D"/>
                          </a:solidFill>
                          <a:latin typeface="DM Sans"/>
                        </a:rPr>
                        <a:t>DiscountPolicy.java</a:t>
                      </a:r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 / </a:t>
                      </a:r>
                      <a:r>
                        <a:rPr sz="1050" b="1" i="0" u="none">
                          <a:solidFill>
                            <a:srgbClr val="4A3E3D"/>
                          </a:solidFill>
                          <a:latin typeface="DM Sans"/>
                        </a:rPr>
                        <a:t>TaxCalculator.java</a:t>
                      </a:r>
                      <a:endParaRPr sz="1050" b="1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OOP Interfaces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Decoupled behavioral contracts governing discounts and national tax algorithms.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</a:tr>
              <a:tr h="447675">
                <a:tc>
                  <a:txBody>
                    <a:bodyPr/>
                    <a:p>
                      <a:pPr algn="l"/>
                      <a:r>
                        <a:rPr sz="1050" b="1" i="0" u="none">
                          <a:solidFill>
                            <a:srgbClr val="4A3E3D"/>
                          </a:solidFill>
                          <a:latin typeface="DM Sans"/>
                        </a:rPr>
                        <a:t>ReceiptFormatter.java</a:t>
                      </a:r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 / </a:t>
                      </a:r>
                      <a:r>
                        <a:rPr sz="1050" b="1" i="0" u="none">
                          <a:solidFill>
                            <a:srgbClr val="4A3E3D"/>
                          </a:solidFill>
                          <a:latin typeface="DM Sans"/>
                        </a:rPr>
                        <a:t>OrderRepository.java</a:t>
                      </a:r>
                      <a:endParaRPr sz="1050" b="1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OOP Interfaces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Contracts defining output rendering types and data storage targets.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</a:tr>
              <a:tr h="447675">
                <a:tc>
                  <a:txBody>
                    <a:bodyPr/>
                    <a:p>
                      <a:pPr algn="l"/>
                      <a:r>
                        <a:rPr sz="1050" b="1" i="0" u="none">
                          <a:solidFill>
                            <a:srgbClr val="4A3E3D"/>
                          </a:solidFill>
                          <a:latin typeface="DM Sans"/>
                        </a:rPr>
                        <a:t>PlainTextReceiptFormatter.java</a:t>
                      </a:r>
                      <a:endParaRPr sz="1050" b="1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Implementation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Generates beautifully structured text receipts for legacy thermal POS devices.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</a:tr>
              <a:tr h="447675">
                <a:tc>
                  <a:txBody>
                    <a:bodyPr/>
                    <a:p>
                      <a:pPr algn="l"/>
                      <a:r>
                        <a:rPr sz="1050" b="1" i="0" u="none">
                          <a:solidFill>
                            <a:srgbClr val="4A3E3D"/>
                          </a:solidFill>
                          <a:latin typeface="DM Sans"/>
                        </a:rPr>
                        <a:t>FileOrderRepository.java</a:t>
                      </a:r>
                      <a:endParaRPr sz="1050" b="1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Implementation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Safely appends complete transaction lines to local disk systems (</a:t>
                      </a:r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orders_log.txt</a:t>
                      </a:r>
                      <a:r>
                        <a:rPr sz="1050" b="0" i="0" u="none">
                          <a:solidFill>
                            <a:srgbClr val="4A3E3D"/>
                          </a:solidFill>
                          <a:latin typeface="DM Sans"/>
                        </a:rPr>
                        <a:t>).</a:t>
                      </a:r>
                      <a:endParaRPr sz="105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</a:tr>
            </a:tbl>
          </a:graphicData>
        </a:graphic>
      </p:graphicFrame>
      <p:sp>
        <p:nvSpPr>
          <p:cNvPr id="1048690" name="Rectangle 5"/>
          <p:cNvSpPr/>
          <p:nvPr/>
        </p:nvSpPr>
        <p:spPr>
          <a:xfrm>
            <a:off x="676275" y="3631852"/>
            <a:ext cx="3508325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691" name="Rectangle 6"/>
          <p:cNvSpPr/>
          <p:nvPr/>
        </p:nvSpPr>
        <p:spPr>
          <a:xfrm>
            <a:off x="4184600" y="3631852"/>
            <a:ext cx="1460896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692" name="Rectangle 7"/>
          <p:cNvSpPr/>
          <p:nvPr/>
        </p:nvSpPr>
        <p:spPr>
          <a:xfrm>
            <a:off x="5645497" y="3631852"/>
            <a:ext cx="5870227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693" name="Rectangle 8"/>
          <p:cNvSpPr/>
          <p:nvPr/>
        </p:nvSpPr>
        <p:spPr>
          <a:xfrm>
            <a:off x="676275" y="4079527"/>
            <a:ext cx="3508325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694" name="Rectangle 9"/>
          <p:cNvSpPr/>
          <p:nvPr/>
        </p:nvSpPr>
        <p:spPr>
          <a:xfrm>
            <a:off x="4184600" y="4079527"/>
            <a:ext cx="1460896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695" name="Rectangle 10"/>
          <p:cNvSpPr/>
          <p:nvPr/>
        </p:nvSpPr>
        <p:spPr>
          <a:xfrm>
            <a:off x="5645497" y="4079527"/>
            <a:ext cx="5870227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696" name="Rectangle 11"/>
          <p:cNvSpPr/>
          <p:nvPr/>
        </p:nvSpPr>
        <p:spPr>
          <a:xfrm>
            <a:off x="676275" y="4527202"/>
            <a:ext cx="3508325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697" name="Rectangle 12"/>
          <p:cNvSpPr/>
          <p:nvPr/>
        </p:nvSpPr>
        <p:spPr>
          <a:xfrm>
            <a:off x="4184600" y="4527202"/>
            <a:ext cx="1460896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698" name="Rectangle 13"/>
          <p:cNvSpPr/>
          <p:nvPr/>
        </p:nvSpPr>
        <p:spPr>
          <a:xfrm>
            <a:off x="5645497" y="4527202"/>
            <a:ext cx="5870227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699" name="Rectangle 14"/>
          <p:cNvSpPr/>
          <p:nvPr/>
        </p:nvSpPr>
        <p:spPr>
          <a:xfrm>
            <a:off x="676275" y="4974877"/>
            <a:ext cx="3508325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700" name="Rectangle 15"/>
          <p:cNvSpPr/>
          <p:nvPr/>
        </p:nvSpPr>
        <p:spPr>
          <a:xfrm>
            <a:off x="4184600" y="4974877"/>
            <a:ext cx="1460896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701" name="Rectangle 16"/>
          <p:cNvSpPr/>
          <p:nvPr/>
        </p:nvSpPr>
        <p:spPr>
          <a:xfrm>
            <a:off x="5645497" y="4974877"/>
            <a:ext cx="5870227" cy="9525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702" name="TextBox 17"/>
          <p:cNvSpPr txBox="1"/>
          <p:nvPr/>
        </p:nvSpPr>
        <p:spPr>
          <a:xfrm>
            <a:off x="666750" y="476250"/>
            <a:ext cx="11401425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2850" b="1" i="0" u="none">
                <a:solidFill>
                  <a:srgbClr val="2B1E17"/>
                </a:solidFill>
                <a:latin typeface="Merriweather"/>
              </a:rPr>
              <a:t>Summary of Structural Refactoring</a:t>
            </a:r>
            <a:endParaRPr sz="2850" b="1" i="0" u="none">
              <a:solidFill>
                <a:srgbClr val="2B1E17"/>
              </a:solidFill>
              <a:latin typeface="Merriweather"/>
            </a:endParaRPr>
          </a:p>
        </p:txBody>
      </p:sp>
      <p:sp>
        <p:nvSpPr>
          <p:cNvPr id="1048703" name="Rectangle 18"/>
          <p:cNvSpPr/>
          <p:nvPr/>
        </p:nvSpPr>
        <p:spPr>
          <a:xfrm>
            <a:off x="666750" y="1038225"/>
            <a:ext cx="108585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39" name=""/>
        <p:cNvGrpSpPr/>
        <p:nvPr/>
      </p:nvGrpSpPr>
      <p:grpSpPr/>
      <p:pic>
        <p:nvPicPr>
          <p:cNvPr id="209720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9720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125" y="2532757"/>
            <a:ext cx="5191125" cy="1874043"/>
          </a:xfrm>
          <a:prstGeom prst="rect">
            <a:avLst/>
          </a:prstGeom>
        </p:spPr>
      </p:pic>
      <p:sp>
        <p:nvSpPr>
          <p:cNvPr id="1048704" name="TextBox 3"/>
          <p:cNvSpPr txBox="1"/>
          <p:nvPr/>
        </p:nvSpPr>
        <p:spPr>
          <a:xfrm>
            <a:off x="666750" y="2532757"/>
            <a:ext cx="5450681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1800" b="1" i="0" u="none">
                <a:solidFill>
                  <a:srgbClr val="D97706"/>
                </a:solidFill>
                <a:latin typeface="Merriweather"/>
              </a:rPr>
              <a:t>Bootstrapping in Main.java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705" name="TextBox 4"/>
          <p:cNvSpPr txBox="1"/>
          <p:nvPr/>
        </p:nvSpPr>
        <p:spPr>
          <a:xfrm>
            <a:off x="666750" y="2970907"/>
            <a:ext cx="5191125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Our program's entry point sets up the architectural pieces once and executes real transactions: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06" name="TextBox 5"/>
          <p:cNvSpPr txBox="1"/>
          <p:nvPr/>
        </p:nvSpPr>
        <p:spPr>
          <a:xfrm>
            <a:off x="933450" y="3601342"/>
            <a:ext cx="49244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Configures a 12% VAT module.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07" name="TextBox 6"/>
          <p:cNvSpPr txBox="1"/>
          <p:nvPr/>
        </p:nvSpPr>
        <p:spPr>
          <a:xfrm>
            <a:off x="933450" y="3944242"/>
            <a:ext cx="49244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Injects flat file storage into the Repository.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08" name="TextBox 7"/>
          <p:cNvSpPr txBox="1"/>
          <p:nvPr/>
        </p:nvSpPr>
        <p:spPr>
          <a:xfrm>
            <a:off x="933450" y="4287142"/>
            <a:ext cx="49244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Processes </a:t>
            </a:r>
            <a:r>
              <a:rPr sz="1200" b="1" i="0" u="none">
                <a:solidFill>
                  <a:srgbClr val="2B1E17"/>
                </a:solidFill>
                <a:latin typeface="DM Sans"/>
              </a:rPr>
              <a:t>Juan Dela Cruz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(regular customer, no discount).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09" name="TextBox 8"/>
          <p:cNvSpPr txBox="1"/>
          <p:nvPr/>
        </p:nvSpPr>
        <p:spPr>
          <a:xfrm>
            <a:off x="933450" y="4630042"/>
            <a:ext cx="49244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Processes </a:t>
            </a:r>
            <a:r>
              <a:rPr sz="1200" b="1" i="0" u="none">
                <a:solidFill>
                  <a:srgbClr val="2B1E17"/>
                </a:solidFill>
                <a:latin typeface="DM Sans"/>
              </a:rPr>
              <a:t>Lola Rosa Santos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(senior citizen customer, 20% discount applied cleanly).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10" name="TextBox 9"/>
          <p:cNvSpPr txBox="1"/>
          <p:nvPr/>
        </p:nvSpPr>
        <p:spPr>
          <a:xfrm>
            <a:off x="666750" y="3610867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711" name="TextBox 10"/>
          <p:cNvSpPr txBox="1"/>
          <p:nvPr/>
        </p:nvSpPr>
        <p:spPr>
          <a:xfrm>
            <a:off x="666750" y="3953767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712" name="TextBox 11"/>
          <p:cNvSpPr txBox="1"/>
          <p:nvPr/>
        </p:nvSpPr>
        <p:spPr>
          <a:xfrm>
            <a:off x="666750" y="4296667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713" name="TextBox 12"/>
          <p:cNvSpPr txBox="1"/>
          <p:nvPr/>
        </p:nvSpPr>
        <p:spPr>
          <a:xfrm>
            <a:off x="666750" y="4639567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714" name="TextBox 13"/>
          <p:cNvSpPr txBox="1"/>
          <p:nvPr/>
        </p:nvSpPr>
        <p:spPr>
          <a:xfrm>
            <a:off x="666750" y="476250"/>
            <a:ext cx="11401425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2850" b="1" i="0" u="none">
                <a:solidFill>
                  <a:srgbClr val="2B1E17"/>
                </a:solidFill>
                <a:latin typeface="Merriweather"/>
              </a:rPr>
              <a:t>System Execution &amp; Outputs</a:t>
            </a:r>
            <a:endParaRPr sz="2850" b="1" i="0" u="none">
              <a:solidFill>
                <a:srgbClr val="2B1E17"/>
              </a:solidFill>
              <a:latin typeface="Merriweather"/>
            </a:endParaRPr>
          </a:p>
        </p:txBody>
      </p:sp>
      <p:sp>
        <p:nvSpPr>
          <p:cNvPr id="1048715" name="Rectangle 14"/>
          <p:cNvSpPr/>
          <p:nvPr/>
        </p:nvSpPr>
        <p:spPr>
          <a:xfrm>
            <a:off x="666750" y="1038225"/>
            <a:ext cx="108585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40" name=""/>
        <p:cNvGrpSpPr/>
        <p:nvPr/>
      </p:nvGrpSpPr>
      <p:grpSpPr/>
      <p:pic>
        <p:nvPicPr>
          <p:cNvPr id="2097204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97205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2912715"/>
            <a:ext cx="5191125" cy="2343150"/>
          </a:xfrm>
          <a:prstGeom prst="rect">
            <a:avLst/>
          </a:prstGeom>
        </p:spPr>
      </p:pic>
      <p:sp>
        <p:nvSpPr>
          <p:cNvPr id="1048716" name="TextBox 3"/>
          <p:cNvSpPr txBox="1"/>
          <p:nvPr/>
        </p:nvSpPr>
        <p:spPr>
          <a:xfrm>
            <a:off x="666750" y="2478434"/>
            <a:ext cx="10858500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To ensure our refactored architectural enhancements are easily reviewable, we maintain a side-by-side package structure: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17" name="TextBox 4"/>
          <p:cNvSpPr txBox="1"/>
          <p:nvPr/>
        </p:nvSpPr>
        <p:spPr>
          <a:xfrm>
            <a:off x="6334125" y="3103215"/>
            <a:ext cx="5450681" cy="2667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1800" b="1" i="0" u="none">
                <a:solidFill>
                  <a:srgbClr val="D97706"/>
                </a:solidFill>
                <a:latin typeface="Merriweather"/>
              </a:rPr>
              <a:t>Strict Packaging Standards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718" name="TextBox 5"/>
          <p:cNvSpPr txBox="1"/>
          <p:nvPr/>
        </p:nvSpPr>
        <p:spPr>
          <a:xfrm>
            <a:off x="6600825" y="3541365"/>
            <a:ext cx="49244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Coexistence: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naive/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and 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refactored/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are strictly parallel sibling directories directly inside the 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coffeeshop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namespace.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19" name="TextBox 6"/>
          <p:cNvSpPr txBox="1"/>
          <p:nvPr/>
        </p:nvSpPr>
        <p:spPr>
          <a:xfrm>
            <a:off x="6600825" y="4112865"/>
            <a:ext cx="49244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Verification: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Refactored classes never import naive classes, keeping imports separate.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20" name="TextBox 7"/>
          <p:cNvSpPr txBox="1"/>
          <p:nvPr/>
        </p:nvSpPr>
        <p:spPr>
          <a:xfrm>
            <a:off x="6600825" y="4684365"/>
            <a:ext cx="49244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Presentation: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The slide file sits directly in the root repository folder, as requested.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21" name="TextBox 8"/>
          <p:cNvSpPr txBox="1"/>
          <p:nvPr/>
        </p:nvSpPr>
        <p:spPr>
          <a:xfrm>
            <a:off x="6334125" y="3550890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722" name="TextBox 9"/>
          <p:cNvSpPr txBox="1"/>
          <p:nvPr/>
        </p:nvSpPr>
        <p:spPr>
          <a:xfrm>
            <a:off x="6334125" y="4122390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723" name="TextBox 10"/>
          <p:cNvSpPr txBox="1"/>
          <p:nvPr/>
        </p:nvSpPr>
        <p:spPr>
          <a:xfrm>
            <a:off x="6334125" y="4693890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724" name="TextBox 11"/>
          <p:cNvSpPr txBox="1"/>
          <p:nvPr/>
        </p:nvSpPr>
        <p:spPr>
          <a:xfrm>
            <a:off x="666750" y="476250"/>
            <a:ext cx="11401425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2850" b="1" i="0" u="none">
                <a:solidFill>
                  <a:srgbClr val="2B1E17"/>
                </a:solidFill>
                <a:latin typeface="Merriweather"/>
              </a:rPr>
              <a:t>Standard Project Folder Structure</a:t>
            </a:r>
            <a:endParaRPr sz="2850" b="1" i="0" u="none">
              <a:solidFill>
                <a:srgbClr val="2B1E17"/>
              </a:solidFill>
              <a:latin typeface="Merriweather"/>
            </a:endParaRPr>
          </a:p>
        </p:txBody>
      </p:sp>
      <p:sp>
        <p:nvSpPr>
          <p:cNvPr id="1048725" name="Rectangle 12"/>
          <p:cNvSpPr/>
          <p:nvPr/>
        </p:nvSpPr>
        <p:spPr>
          <a:xfrm>
            <a:off x="666750" y="1038225"/>
            <a:ext cx="108585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41" name=""/>
        <p:cNvGrpSpPr/>
        <p:nvPr/>
      </p:nvGrpSpPr>
      <p:grpSpPr/>
      <p:pic>
        <p:nvPicPr>
          <p:cNvPr id="2097206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97207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3510855"/>
            <a:ext cx="2497335" cy="1480095"/>
          </a:xfrm>
          <a:prstGeom prst="rect">
            <a:avLst/>
          </a:prstGeom>
        </p:spPr>
      </p:pic>
      <p:pic>
        <p:nvPicPr>
          <p:cNvPr id="2097208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3705" y="3510855"/>
            <a:ext cx="2497335" cy="1480095"/>
          </a:xfrm>
          <a:prstGeom prst="rect">
            <a:avLst/>
          </a:prstGeom>
        </p:spPr>
      </p:pic>
      <p:pic>
        <p:nvPicPr>
          <p:cNvPr id="2097209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660" y="3510855"/>
            <a:ext cx="2497335" cy="1480095"/>
          </a:xfrm>
          <a:prstGeom prst="rect">
            <a:avLst/>
          </a:prstGeom>
        </p:spPr>
      </p:pic>
      <p:pic>
        <p:nvPicPr>
          <p:cNvPr id="2097210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7616" y="3510855"/>
            <a:ext cx="2497335" cy="1480095"/>
          </a:xfrm>
          <a:prstGeom prst="rect">
            <a:avLst/>
          </a:prstGeom>
        </p:spPr>
      </p:pic>
      <p:sp>
        <p:nvSpPr>
          <p:cNvPr id="1048726" name="TextBox 6"/>
          <p:cNvSpPr txBox="1"/>
          <p:nvPr/>
        </p:nvSpPr>
        <p:spPr>
          <a:xfrm>
            <a:off x="666750" y="2743200"/>
            <a:ext cx="10858500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To safely push changes to GitHub Classroom without overriding team commits, we strictly follow this workflow: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27" name="Rectangle 7"/>
          <p:cNvSpPr/>
          <p:nvPr/>
        </p:nvSpPr>
        <p:spPr>
          <a:xfrm>
            <a:off x="666750" y="4231778"/>
            <a:ext cx="10858500" cy="38100"/>
          </a:xfrm>
          <a:prstGeom prst="rect">
            <a:avLst/>
          </a:prstGeom>
          <a:solidFill>
            <a:srgbClr val="E6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728" name="TextBox 8"/>
          <p:cNvSpPr txBox="1"/>
          <p:nvPr/>
        </p:nvSpPr>
        <p:spPr>
          <a:xfrm>
            <a:off x="764336" y="3663255"/>
            <a:ext cx="230216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/>
            <a:r>
              <a:rPr sz="1800" b="1" i="0" u="none">
                <a:solidFill>
                  <a:srgbClr val="D97706"/>
                </a:solidFill>
                <a:latin typeface="Merriweather"/>
              </a:rPr>
              <a:t>1. Clone Repo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729" name="TextBox 9"/>
          <p:cNvSpPr txBox="1"/>
          <p:nvPr/>
        </p:nvSpPr>
        <p:spPr>
          <a:xfrm>
            <a:off x="873962" y="4432263"/>
            <a:ext cx="2192535" cy="3962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>
              <a:lnSpc>
                <a:spcPts val="1560"/>
              </a:lnSpc>
            </a:pPr>
            <a:r>
              <a:rPr sz="975" b="0" i="0" u="none">
                <a:solidFill>
                  <a:srgbClr val="4A3E3D"/>
                </a:solidFill>
                <a:latin typeface="DM Sans"/>
              </a:rPr>
              <a:t>Execute </a:t>
            </a:r>
            <a:r>
              <a:rPr sz="975" b="0" i="0" u="none">
                <a:solidFill>
                  <a:srgbClr val="4A3E3D"/>
                </a:solidFill>
                <a:latin typeface="DM Sans"/>
              </a:rPr>
              <a:t>git clone</a:t>
            </a:r>
            <a:r>
              <a:rPr sz="975" b="0" i="0" u="none">
                <a:solidFill>
                  <a:srgbClr val="4A3E3D"/>
                </a:solidFill>
                <a:latin typeface="DM Sans"/>
              </a:rPr>
              <a:t> to copy the remote team codebase to your local workspace.</a:t>
            </a:r>
            <a:endParaRPr sz="975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30" name="TextBox 10"/>
          <p:cNvSpPr txBox="1"/>
          <p:nvPr/>
        </p:nvSpPr>
        <p:spPr>
          <a:xfrm>
            <a:off x="3551292" y="3663255"/>
            <a:ext cx="230216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/>
            <a:r>
              <a:rPr sz="1800" b="1" i="0" u="none">
                <a:solidFill>
                  <a:srgbClr val="D97706"/>
                </a:solidFill>
                <a:latin typeface="Merriweather"/>
              </a:rPr>
              <a:t>2. Write &amp; Test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731" name="TextBox 11"/>
          <p:cNvSpPr txBox="1"/>
          <p:nvPr/>
        </p:nvSpPr>
        <p:spPr>
          <a:xfrm>
            <a:off x="3606104" y="4432324"/>
            <a:ext cx="2192535" cy="396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>
              <a:lnSpc>
                <a:spcPts val="1560"/>
              </a:lnSpc>
            </a:pPr>
            <a:r>
              <a:rPr sz="975" b="0" i="0" u="none">
                <a:solidFill>
                  <a:srgbClr val="4A3E3D"/>
                </a:solidFill>
                <a:latin typeface="DM Sans"/>
              </a:rPr>
              <a:t>Write refactored classes sibling to naive. Verify code works identically.</a:t>
            </a:r>
            <a:endParaRPr sz="975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32" name="TextBox 12"/>
          <p:cNvSpPr txBox="1"/>
          <p:nvPr/>
        </p:nvSpPr>
        <p:spPr>
          <a:xfrm>
            <a:off x="6338247" y="3663255"/>
            <a:ext cx="230216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/>
            <a:r>
              <a:rPr sz="1800" b="1" i="0" u="none">
                <a:solidFill>
                  <a:srgbClr val="D97706"/>
                </a:solidFill>
                <a:latin typeface="Merriweather"/>
              </a:rPr>
              <a:t>3. Local Commit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733" name="TextBox 13"/>
          <p:cNvSpPr txBox="1"/>
          <p:nvPr/>
        </p:nvSpPr>
        <p:spPr>
          <a:xfrm>
            <a:off x="6393060" y="4432263"/>
            <a:ext cx="2192535" cy="3962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>
              <a:lnSpc>
                <a:spcPts val="1560"/>
              </a:lnSpc>
            </a:pPr>
            <a:r>
              <a:rPr sz="975" b="0" i="0" u="none">
                <a:solidFill>
                  <a:srgbClr val="4A3E3D"/>
                </a:solidFill>
                <a:latin typeface="DM Sans"/>
              </a:rPr>
              <a:t>Commit changes locally using descriptive logs in VS Code or Terminal.</a:t>
            </a:r>
            <a:endParaRPr sz="975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34" name="TextBox 14"/>
          <p:cNvSpPr txBox="1"/>
          <p:nvPr/>
        </p:nvSpPr>
        <p:spPr>
          <a:xfrm>
            <a:off x="9125203" y="3663255"/>
            <a:ext cx="2302162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/>
            <a:r>
              <a:rPr sz="1800" b="1" i="0" u="none">
                <a:solidFill>
                  <a:srgbClr val="D97706"/>
                </a:solidFill>
                <a:latin typeface="Merriweather"/>
              </a:rPr>
              <a:t>4. Push Remote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735" name="TextBox 15"/>
          <p:cNvSpPr txBox="1"/>
          <p:nvPr/>
        </p:nvSpPr>
        <p:spPr>
          <a:xfrm>
            <a:off x="9180016" y="4432293"/>
            <a:ext cx="2192535" cy="3962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>
              <a:lnSpc>
                <a:spcPts val="1560"/>
              </a:lnSpc>
            </a:pPr>
            <a:r>
              <a:rPr sz="975" b="0" i="0" u="none">
                <a:solidFill>
                  <a:srgbClr val="4A3E3D"/>
                </a:solidFill>
                <a:latin typeface="DM Sans"/>
              </a:rPr>
              <a:t>Execute </a:t>
            </a:r>
            <a:r>
              <a:rPr sz="975" b="0" i="0" u="none">
                <a:solidFill>
                  <a:srgbClr val="4A3E3D"/>
                </a:solidFill>
                <a:latin typeface="DM Sans"/>
              </a:rPr>
              <a:t>git push</a:t>
            </a:r>
            <a:r>
              <a:rPr sz="975" b="0" i="0" u="none">
                <a:solidFill>
                  <a:srgbClr val="4A3E3D"/>
                </a:solidFill>
                <a:latin typeface="DM Sans"/>
              </a:rPr>
              <a:t> or sync changes to publish your progress to GitHub Classroom.</a:t>
            </a:r>
            <a:endParaRPr sz="975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36" name="TextBox 16"/>
          <p:cNvSpPr txBox="1"/>
          <p:nvPr/>
        </p:nvSpPr>
        <p:spPr>
          <a:xfrm>
            <a:off x="666750" y="476250"/>
            <a:ext cx="11401425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2850" b="1" i="0" u="none">
                <a:solidFill>
                  <a:srgbClr val="2B1E17"/>
                </a:solidFill>
                <a:latin typeface="Merriweather"/>
              </a:rPr>
              <a:t>Team Git &amp; Collaboration Guide</a:t>
            </a:r>
            <a:endParaRPr sz="2850" b="1" i="0" u="none">
              <a:solidFill>
                <a:srgbClr val="2B1E17"/>
              </a:solidFill>
              <a:latin typeface="Merriweather"/>
            </a:endParaRPr>
          </a:p>
        </p:txBody>
      </p:sp>
      <p:sp>
        <p:nvSpPr>
          <p:cNvPr id="1048737" name="Rectangle 17"/>
          <p:cNvSpPr/>
          <p:nvPr/>
        </p:nvSpPr>
        <p:spPr>
          <a:xfrm>
            <a:off x="666750" y="1038225"/>
            <a:ext cx="108585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738" name="Rounded Rectangle 18"/>
          <p:cNvSpPr/>
          <p:nvPr/>
        </p:nvSpPr>
        <p:spPr>
          <a:xfrm>
            <a:off x="1763016" y="4193677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AF6F0"/>
          </a:solidFill>
          <a:ln w="381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739" name="Rounded Rectangle 19"/>
          <p:cNvSpPr/>
          <p:nvPr/>
        </p:nvSpPr>
        <p:spPr>
          <a:xfrm>
            <a:off x="4626173" y="4174703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AF6F0"/>
          </a:solidFill>
          <a:ln w="381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740" name="Rounded Rectangle 20"/>
          <p:cNvSpPr/>
          <p:nvPr/>
        </p:nvSpPr>
        <p:spPr>
          <a:xfrm>
            <a:off x="7413128" y="4174703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AF6F0"/>
          </a:solidFill>
          <a:ln w="381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741" name="Rounded Rectangle 21"/>
          <p:cNvSpPr/>
          <p:nvPr/>
        </p:nvSpPr>
        <p:spPr>
          <a:xfrm>
            <a:off x="10200084" y="4174703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AF6F0"/>
          </a:solidFill>
          <a:ln w="381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42" name=""/>
        <p:cNvGrpSpPr/>
        <p:nvPr/>
      </p:nvGrpSpPr>
      <p:grpSpPr/>
      <p:pic>
        <p:nvPicPr>
          <p:cNvPr id="2097211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97212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2943225"/>
            <a:ext cx="4343400" cy="1847850"/>
          </a:xfrm>
          <a:prstGeom prst="rect">
            <a:avLst/>
          </a:prstGeom>
        </p:spPr>
      </p:pic>
      <p:sp>
        <p:nvSpPr>
          <p:cNvPr id="1048742" name="TextBox 3"/>
          <p:cNvSpPr txBox="1"/>
          <p:nvPr/>
        </p:nvSpPr>
        <p:spPr>
          <a:xfrm>
            <a:off x="1085850" y="3362325"/>
            <a:ext cx="3505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>
              <a:lnSpc>
                <a:spcPts val="5400"/>
              </a:lnSpc>
            </a:pPr>
            <a:r>
              <a:rPr sz="5400" b="1" i="0" u="none">
                <a:solidFill>
                  <a:srgbClr val="2B1E17"/>
                </a:solidFill>
                <a:latin typeface="Merriweather"/>
              </a:rPr>
              <a:t>SOLID</a:t>
            </a:r>
            <a:endParaRPr sz="5400" b="1" i="0" u="none">
              <a:solidFill>
                <a:srgbClr val="2B1E17"/>
              </a:solidFill>
              <a:latin typeface="Merriweather"/>
            </a:endParaRPr>
          </a:p>
        </p:txBody>
      </p:sp>
      <p:sp>
        <p:nvSpPr>
          <p:cNvPr id="1048743" name="TextBox 4"/>
          <p:cNvSpPr txBox="1"/>
          <p:nvPr/>
        </p:nvSpPr>
        <p:spPr>
          <a:xfrm>
            <a:off x="1085850" y="4143375"/>
            <a:ext cx="350520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/>
            <a:r>
              <a:rPr sz="1350" b="1" i="0" u="none">
                <a:solidFill>
                  <a:srgbClr val="D97706"/>
                </a:solidFill>
                <a:latin typeface="DM Sans"/>
              </a:rPr>
              <a:t>OOP PRINCIPLES</a:t>
            </a:r>
            <a:endParaRPr sz="1350" b="1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744" name="TextBox 5"/>
          <p:cNvSpPr txBox="1"/>
          <p:nvPr/>
        </p:nvSpPr>
        <p:spPr>
          <a:xfrm>
            <a:off x="5391150" y="2597497"/>
            <a:ext cx="68008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1800" b="1" i="0" u="none">
                <a:solidFill>
                  <a:srgbClr val="D97706"/>
                </a:solidFill>
                <a:latin typeface="Merriweather"/>
              </a:rPr>
              <a:t>High Cohesion &amp; Loose Coupling</a:t>
            </a:r>
            <a:endParaRPr sz="1800" b="1" i="0" u="none">
              <a:solidFill>
                <a:srgbClr val="D97706"/>
              </a:solidFill>
              <a:latin typeface="Merriweather"/>
            </a:endParaRPr>
          </a:p>
        </p:txBody>
      </p:sp>
      <p:sp>
        <p:nvSpPr>
          <p:cNvPr id="1048745" name="TextBox 6"/>
          <p:cNvSpPr txBox="1"/>
          <p:nvPr/>
        </p:nvSpPr>
        <p:spPr>
          <a:xfrm>
            <a:off x="5391150" y="3035647"/>
            <a:ext cx="6515100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A3E3D"/>
                </a:solidFill>
                <a:latin typeface="DM Sans"/>
              </a:rPr>
              <a:t>Breaking up monolithic codebases into smaller, isolated modules yields tangible benefits: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46" name="TextBox 7"/>
          <p:cNvSpPr txBox="1"/>
          <p:nvPr/>
        </p:nvSpPr>
        <p:spPr>
          <a:xfrm>
            <a:off x="5657850" y="3422302"/>
            <a:ext cx="624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Single Responsibility (SRP):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Each class is focused on one clear task. Making updates to VAT calculations doesn't risk breaking receipt formats or storage code.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47" name="TextBox 8"/>
          <p:cNvSpPr txBox="1"/>
          <p:nvPr/>
        </p:nvSpPr>
        <p:spPr>
          <a:xfrm>
            <a:off x="5657850" y="3993802"/>
            <a:ext cx="624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Open-Closed Principle: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Adding a student discount or switching log systems involves writing a new class rather than modifying original classes.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48" name="TextBox 9"/>
          <p:cNvSpPr txBox="1"/>
          <p:nvPr/>
        </p:nvSpPr>
        <p:spPr>
          <a:xfrm>
            <a:off x="5657850" y="4565302"/>
            <a:ext cx="624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2B1E17"/>
                </a:solidFill>
                <a:latin typeface="DM Sans"/>
              </a:rPr>
              <a:t>Team-Friendly Design:</a:t>
            </a:r>
            <a:r>
              <a:rPr sz="1200" b="0" i="0" u="none">
                <a:solidFill>
                  <a:srgbClr val="4A3E3D"/>
                </a:solidFill>
                <a:latin typeface="DM Sans"/>
              </a:rPr>
              <a:t> Developers can write, test, and debug their own modules in parallel without running into Git merge conflicts.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sp>
        <p:nvSpPr>
          <p:cNvPr id="1048749" name="TextBox 10"/>
          <p:cNvSpPr txBox="1"/>
          <p:nvPr/>
        </p:nvSpPr>
        <p:spPr>
          <a:xfrm>
            <a:off x="5391150" y="3431827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750" name="TextBox 11"/>
          <p:cNvSpPr txBox="1"/>
          <p:nvPr/>
        </p:nvSpPr>
        <p:spPr>
          <a:xfrm>
            <a:off x="5391150" y="4003327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751" name="TextBox 12"/>
          <p:cNvSpPr txBox="1"/>
          <p:nvPr/>
        </p:nvSpPr>
        <p:spPr>
          <a:xfrm>
            <a:off x="5391150" y="4574827"/>
            <a:ext cx="1238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D97706"/>
                </a:solidFill>
                <a:latin typeface="DM Sans"/>
              </a:rPr>
              <a:t>✦</a:t>
            </a:r>
            <a:endParaRPr sz="1200" b="0" i="0" u="none">
              <a:solidFill>
                <a:srgbClr val="D97706"/>
              </a:solidFill>
              <a:latin typeface="DM Sans"/>
            </a:endParaRPr>
          </a:p>
        </p:txBody>
      </p:sp>
      <p:sp>
        <p:nvSpPr>
          <p:cNvPr id="1048752" name="TextBox 13"/>
          <p:cNvSpPr txBox="1"/>
          <p:nvPr/>
        </p:nvSpPr>
        <p:spPr>
          <a:xfrm>
            <a:off x="666750" y="476250"/>
            <a:ext cx="11401425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2850" b="1" i="0" u="none">
                <a:solidFill>
                  <a:srgbClr val="2B1E17"/>
                </a:solidFill>
                <a:latin typeface="Merriweather"/>
              </a:rPr>
              <a:t>Why This Architecture Wins</a:t>
            </a:r>
            <a:endParaRPr sz="2850" b="1" i="0" u="none">
              <a:solidFill>
                <a:srgbClr val="2B1E17"/>
              </a:solidFill>
              <a:latin typeface="Merriweather"/>
            </a:endParaRPr>
          </a:p>
        </p:txBody>
      </p:sp>
      <p:sp>
        <p:nvSpPr>
          <p:cNvPr id="1048753" name="Rectangle 14"/>
          <p:cNvSpPr/>
          <p:nvPr/>
        </p:nvSpPr>
        <p:spPr>
          <a:xfrm>
            <a:off x="666750" y="1038225"/>
            <a:ext cx="108585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34" name=""/>
        <p:cNvGrpSpPr/>
        <p:nvPr/>
      </p:nvGrpSpPr>
      <p:grpSpPr/>
      <p:pic>
        <p:nvPicPr>
          <p:cNvPr id="2097180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48650" name="TextBox 9"/>
          <p:cNvSpPr txBox="1"/>
          <p:nvPr/>
        </p:nvSpPr>
        <p:spPr>
          <a:xfrm>
            <a:off x="666750" y="476250"/>
            <a:ext cx="11401425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2850" b="1" i="0" u="none">
                <a:solidFill>
                  <a:srgbClr val="2B1E17"/>
                </a:solidFill>
                <a:latin typeface="Merriweather"/>
              </a:rPr>
              <a:t>Team Contribution &amp; Scoring</a:t>
            </a:r>
            <a:endParaRPr sz="2850" b="1" i="0" u="none">
              <a:solidFill>
                <a:srgbClr val="2B1E17"/>
              </a:solidFill>
              <a:latin typeface="Merriweather"/>
            </a:endParaRPr>
          </a:p>
        </p:txBody>
      </p:sp>
      <p:sp>
        <p:nvSpPr>
          <p:cNvPr id="1048651" name="Rectangle 10"/>
          <p:cNvSpPr/>
          <p:nvPr/>
        </p:nvSpPr>
        <p:spPr>
          <a:xfrm>
            <a:off x="666750" y="1038225"/>
            <a:ext cx="10858500" cy="285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</a:p>
        </p:txBody>
      </p:sp>
      <p:sp>
        <p:nvSpPr>
          <p:cNvPr id="1048645" name="TextBox 3"/>
          <p:cNvSpPr txBox="1"/>
          <p:nvPr/>
        </p:nvSpPr>
        <p:spPr>
          <a:xfrm>
            <a:off x="666750" y="1200150"/>
            <a:ext cx="108585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l"/>
            <a:r>
              <a:rPr sz="1200" b="0" i="0" u="none">
                <a:solidFill>
                  <a:srgbClr val="4A3E3D"/>
                </a:solidFill>
                <a:latin typeface="DM Sans"/>
              </a:rPr>
              <a:t>Each member’s contribution to this project is scored out of 100 points total.</a:t>
            </a:r>
            <a:endParaRPr sz="1200" b="0" i="0" u="none">
              <a:solidFill>
                <a:srgbClr val="4A3E3D"/>
              </a:solidFill>
              <a:latin typeface="DM Sans"/>
            </a:endParaRPr>
          </a:p>
        </p:txBody>
      </p:sp>
      <p:graphicFrame>
        <p:nvGraphicFramePr>
          <p:cNvPr id="4194305" name="Score Table"/>
          <p:cNvGraphicFramePr>
            <a:graphicFrameLocks noGrp="1"/>
          </p:cNvGraphicFramePr>
          <p:nvPr/>
        </p:nvGraphicFramePr>
        <p:xfrm>
          <a:off x="676275" y="1650000"/>
          <a:ext cx="10839448" cy="33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0000"/>
                <a:gridCol w="2839448"/>
              </a:tblGrid>
              <a:tr h="500000"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FAF6F0"/>
                          </a:solidFill>
                          <a:latin typeface="Merriweather"/>
                        </a:rPr>
                        <a:t>Team Member</a:t>
                      </a:r>
                      <a:endParaRPr sz="1200" b="1" i="0" u="none">
                        <a:solidFill>
                          <a:srgbClr val="FAF6F0"/>
                        </a:solidFill>
                        <a:latin typeface="Merriweather"/>
                      </a:endParaRPr>
                    </a:p>
                  </a:txBody>
                  <a:tcPr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B1E17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FAF6F0"/>
                          </a:solidFill>
                          <a:latin typeface="Merriweather"/>
                        </a:rPr>
                        <a:t>Points</a:t>
                      </a:r>
                      <a:endParaRPr sz="1200" b="1" i="0" u="none">
                        <a:solidFill>
                          <a:srgbClr val="FAF6F0"/>
                        </a:solidFill>
                        <a:latin typeface="Merriweather"/>
                      </a:endParaRPr>
                    </a:p>
                  </a:txBody>
                  <a:tcPr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B1E17"/>
                    </a:solidFill>
                  </a:tcPr>
                </a:tc>
              </a:tr>
              <a:tr h="480000"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4A3E3D"/>
                          </a:solidFill>
                          <a:latin typeface="DM Sans"/>
                        </a:rPr>
                        <a:t>Apay-Yeo, Lhester</a:t>
                      </a:r>
                      <a:endParaRPr sz="1200" b="1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lang="en-US" sz="1200" b="0" i="0" u="none">
                          <a:solidFill>
                            <a:srgbClr val="4A3E3D"/>
                          </a:solidFill>
                          <a:latin typeface="DM Sans"/>
                        </a:rPr>
                        <a:t>20</a:t>
                      </a:r>
                      <a:endParaRPr lang="en-US" sz="120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</a:tr>
              <a:tr h="480000"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4A3E3D"/>
                          </a:solidFill>
                          <a:latin typeface="DM Sans"/>
                        </a:rPr>
                        <a:t>Tuclab, Rahamier</a:t>
                      </a:r>
                      <a:endParaRPr sz="1200" b="1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lang="en-US" sz="1200" b="0" i="0" u="none">
                          <a:solidFill>
                            <a:srgbClr val="4A3E3D"/>
                          </a:solidFill>
                          <a:latin typeface="DM Sans"/>
                        </a:rPr>
                        <a:t>20</a:t>
                      </a:r>
                      <a:endParaRPr lang="en-US" sz="120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</a:tr>
              <a:tr h="480000"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4A3E3D"/>
                          </a:solidFill>
                          <a:latin typeface="DM Sans"/>
                        </a:rPr>
                        <a:t>Alingod, Precious</a:t>
                      </a:r>
                      <a:endParaRPr sz="1200" b="1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lang="en-US" sz="1200" b="0" i="0" u="none">
                          <a:solidFill>
                            <a:srgbClr val="4A3E3D"/>
                          </a:solidFill>
                          <a:latin typeface="DM Sans"/>
                        </a:rPr>
                        <a:t>20</a:t>
                      </a:r>
                      <a:endParaRPr lang="en-US" sz="120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</a:tr>
              <a:tr h="480000"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4A3E3D"/>
                          </a:solidFill>
                          <a:latin typeface="DM Sans"/>
                        </a:rPr>
                        <a:t>Patungao, Brandon</a:t>
                      </a:r>
                      <a:endParaRPr sz="1200" b="1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lang="en-US" sz="1200" b="0" i="0" u="none">
                          <a:solidFill>
                            <a:srgbClr val="4A3E3D"/>
                          </a:solidFill>
                          <a:latin typeface="DM Sans"/>
                        </a:rPr>
                        <a:t>20</a:t>
                      </a:r>
                      <a:endParaRPr lang="en-US" sz="120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</a:tr>
              <a:tr h="480000"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4A3E3D"/>
                          </a:solidFill>
                          <a:latin typeface="DM Sans"/>
                        </a:rPr>
                        <a:t>Cabar, Bea</a:t>
                      </a:r>
                      <a:endParaRPr sz="1200" b="1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lang="en-US" sz="1200" b="0" i="0" u="none">
                          <a:solidFill>
                            <a:srgbClr val="4A3E3D"/>
                          </a:solidFill>
                          <a:latin typeface="DM Sans"/>
                        </a:rPr>
                        <a:t>20</a:t>
                      </a:r>
                      <a:endParaRPr lang="en-US" sz="1200" b="0" i="0" u="none">
                        <a:solidFill>
                          <a:srgbClr val="4A3E3D"/>
                        </a:solidFill>
                        <a:latin typeface="DM Sans"/>
                      </a:endParaRPr>
                    </a:p>
                  </a:txBody>
                  <a:tcPr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6F0"/>
                    </a:solidFill>
                  </a:tcPr>
                </a:tc>
              </a:tr>
              <a:tr h="480000"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FAF6F0"/>
                          </a:solidFill>
                          <a:latin typeface="DM Sans"/>
                        </a:rPr>
                        <a:t>TOTAL</a:t>
                      </a:r>
                      <a:endParaRPr sz="1200" b="1" i="0" u="none">
                        <a:solidFill>
                          <a:srgbClr val="FAF6F0"/>
                        </a:solidFill>
                        <a:latin typeface="DM Sans"/>
                      </a:endParaRPr>
                    </a:p>
                  </a:txBody>
                  <a:tcPr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p>
                      <a:pPr algn="l"/>
                      <a:r>
                        <a:rPr sz="1200" b="1" i="0" u="none">
                          <a:solidFill>
                            <a:srgbClr val="FAF6F0"/>
                          </a:solidFill>
                          <a:latin typeface="DM Sans"/>
                        </a:rPr>
                        <a:t>100</a:t>
                      </a:r>
                      <a:endParaRPr sz="1200" b="1" i="0" u="none">
                        <a:solidFill>
                          <a:srgbClr val="FAF6F0"/>
                        </a:solidFill>
                        <a:latin typeface="DM Sans"/>
                      </a:endParaRPr>
                    </a:p>
                  </a:txBody>
                  <a:tcPr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7706"/>
                    </a:solidFill>
                  </a:tcPr>
                </a:tc>
              </a:tr>
            </a:tbl>
          </a:graphicData>
        </a:graphic>
      </p:graphicFrame>
      <p:sp>
        <p:nvSpPr>
          <p:cNvPr id="1048652" name="TextBox 11"/>
          <p:cNvSpPr txBox="1"/>
          <p:nvPr/>
        </p:nvSpPr>
        <p:spPr>
          <a:xfrm>
            <a:off x="676275" y="5150000"/>
            <a:ext cx="1083944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p>
            <a:pPr algn="ctr"/>
            <a:r>
              <a:rPr sz="1100" b="0" i="1" u="none">
                <a:solidFill>
                  <a:srgbClr val="4A3E3D"/>
                </a:solidFill>
                <a:latin typeface="DM Sans"/>
              </a:rPr>
              <a:t>COMPSCI Group Project · Java OOP Design · July 20, 2026</a:t>
            </a:r>
            <a:endParaRPr sz="1100" b="0" i="1" u="none">
              <a:solidFill>
                <a:srgbClr val="4A3E3D"/>
              </a:solidFill>
              <a:latin typeface="DM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1157605" y="398780"/>
            <a:ext cx="10972800" cy="609600"/>
          </a:xfrm>
        </p:spPr>
        <p:txBody>
          <a:bodyPr>
            <a:noAutofit/>
          </a:bodyPr>
          <a:p>
            <a:pPr algn="l">
              <a:lnSpc>
                <a:spcPct val="111000"/>
              </a:lnSpc>
            </a:pPr>
            <a:r>
              <a:rPr lang="zh-CN" altLang="en-US">
                <a:solidFill>
                  <a:srgbClr val="FF0000"/>
                </a:solidFill>
              </a:rPr>
              <a:t>T</a:t>
            </a:r>
            <a:r>
              <a:rPr lang="zh-CN" altLang="en-US" b="1">
                <a:solidFill>
                  <a:srgbClr val="FF0000"/>
                </a:solidFill>
              </a:rPr>
              <a:t>hank </a:t>
            </a:r>
            <a:r>
              <a:rPr lang="zh-CN" altLang="en-US" b="1"/>
              <a:t>You For Your Attention</a:t>
            </a:r>
            <a:r>
              <a:rPr lang="en-US" altLang="zh-CN" b="1"/>
              <a:t>!!!!</a:t>
            </a:r>
            <a:endParaRPr lang="en-US" altLang="zh-CN" b="1"/>
          </a:p>
        </p:txBody>
      </p:sp>
      <p:sp>
        <p:nvSpPr>
          <p:cNvPr id="17" name="Text Box 16"/>
          <p:cNvSpPr txBox="1"/>
          <p:nvPr/>
        </p:nvSpPr>
        <p:spPr>
          <a:xfrm>
            <a:off x="4431665" y="2010410"/>
            <a:ext cx="4425315" cy="560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/>
              <a:t>FEEL FREE TO ASK QUESTIONS...</a:t>
            </a:r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4287520" y="3854450"/>
            <a:ext cx="3616960" cy="11988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7200" b="1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ORAYT!!!</a:t>
            </a:r>
            <a:endParaRPr lang="en-US" altLang="zh-CN" sz="7200" b="1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15f8b51c608937356e1b11b0755ff10404599018"/>
  <p:tag name="KSO_WM_NEWLAYOUT_GROUP_ID" val="layout_35"/>
  <p:tag name="KSO_WM_NEWLAYOUT_ID" val="slide_09fa9d62d592d9bc"/>
</p:tagLst>
</file>

<file path=ppt/tags/tag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2"/>
  <p:tag name="KSO_WM_UNIT_SUBTYPE" val="d"/>
  <p:tag name="KSO_WM_UNIT_TYPE" val="l_h_i"/>
</p:tagLst>
</file>

<file path=ppt/tags/tag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2"/>
  <p:tag name="KSO_WM_UNIT_SUBTYPE" val="d"/>
  <p:tag name="KSO_WM_UNIT_TYPE" val="l_h_i"/>
</p:tagLst>
</file>

<file path=ppt/tags/tag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2"/>
  <p:tag name="KSO_WM_UNIT_SUBTYPE" val="d"/>
  <p:tag name="KSO_WM_UNIT_TYPE" val="l_h_i"/>
</p:tagLst>
</file>

<file path=ppt/tags/tag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15f8b51c608937356e1b11b0755ff10404599018"/>
  <p:tag name="KSO_WM_NEWLAYOUT_GROUP_ID" val="layout_35"/>
  <p:tag name="KSO_WM_NEWLAYOUT_ID" val="slide_09fa9d62d592d9bc"/>
  <p:tag name="KSO_WM_UNIT_PRESET_TEXT" val="Your slide title here"/>
</p:tagLst>
</file>

<file path=ppt/tags/tag12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0"/>
  <p:tag name="KSO_WM_TEMPLATE_SLIDE_ID" val="slide_09fa9d62d592d9bc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TH Sarabun PSK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TH Sarabun PSK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7496</Words>
  <Application>WPS Presentation</Application>
  <PresentationFormat/>
  <Paragraphs>346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8" baseType="lpstr">
      <vt:lpstr>Arial</vt:lpstr>
      <vt:lpstr>SimSun</vt:lpstr>
      <vt:lpstr>Wingdings</vt:lpstr>
      <vt:lpstr>Arial</vt:lpstr>
      <vt:lpstr>DM Sans</vt:lpstr>
      <vt:lpstr>Segoe Print</vt:lpstr>
      <vt:lpstr>Merriweather</vt:lpstr>
      <vt:lpstr>DM Sans Light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Thank You For Your Attention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Infinix X6840</dc:creator>
  <cp:lastModifiedBy>Lenovo PC</cp:lastModifiedBy>
  <cp:revision>1</cp:revision>
  <dcterms:created xsi:type="dcterms:W3CDTF">2026-07-20T08:29:41Z</dcterms:created>
  <dcterms:modified xsi:type="dcterms:W3CDTF">2026-07-20T08:29:41Z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02cd9b980a944cd0949e47923f130bd3_23</vt:lpwstr>
  </property>
  <property fmtid="{D5CDD505-2E9C-101B-9397-08002B2CF9AE}" pid="3" name="KSOProductBuildVer">
    <vt:lpwstr>1033-12.1.0.27458</vt:lpwstr>
  </property>
</Properties>
</file>