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20"/>
    <p:sldId id="265" r:id="rId11"/>
    <p:sldId id="266" r:id="rId12"/>
    <p:sldId id="267" r:id="rId13"/>
    <p:sldId id="268" r:id="rId14"/>
    <p:sldId id="269" r:id="rId15"/>
    <p:sldId id="271" r:id="rId21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1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1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1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1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9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0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8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79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_flowchart.png"/><Relationship Id="rId3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E17"/>
        </a:solidFill>
        <a:effectLst/>
      </p:bgPr>
    </p:bg>
    <p:spTree>
      <p:nvGrpSpPr>
        <p:cNvPr id="24" name=""/>
        <p:cNvGrpSpPr/>
        <p:nvPr/>
      </p:nvGrpSpPr>
      <p:grpSpPr>
        <a:xfrm/>
      </p:grpSpPr>
      <p:pic>
        <p:nvPicPr>
          <p:cNvPr id="2097152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53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809750" y="4246066"/>
            <a:ext cx="8572500" cy="603795"/>
          </a:xfrm>
          <a:prstGeom prst="rect"/>
        </p:spPr>
      </p:pic>
      <p:sp>
        <p:nvSpPr>
          <p:cNvPr id="1048584" name="TextBox 3"/>
          <p:cNvSpPr txBox="1"/>
          <p:nvPr/>
        </p:nvSpPr>
        <p:spPr>
          <a:xfrm>
            <a:off x="3600450" y="2007989"/>
            <a:ext cx="4991100" cy="20002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200" i="0" u="none">
                <a:solidFill>
                  <a:srgbClr val="D97706"/>
                </a:solidFill>
                <a:latin typeface="DM Sans"/>
              </a:rPr>
              <a:t>COMPSCI GROUP PROJECT • JAVA OOP DESIGN</a:t>
            </a:r>
          </a:p>
        </p:txBody>
      </p:sp>
      <p:sp>
        <p:nvSpPr>
          <p:cNvPr id="1048585" name="TextBox 4"/>
          <p:cNvSpPr txBox="1"/>
          <p:nvPr/>
        </p:nvSpPr>
        <p:spPr>
          <a:xfrm>
            <a:off x="1595437" y="2350889"/>
            <a:ext cx="9001125" cy="7009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5520"/>
              </a:lnSpc>
            </a:pPr>
            <a:r>
              <a:rPr b="1" sz="4800" i="0" u="none">
                <a:solidFill>
                  <a:srgbClr val="FAF6F0"/>
                </a:solidFill>
                <a:latin typeface="Merriweather"/>
              </a:rPr>
              <a:t>Coffee Shop Order System</a:t>
            </a:r>
          </a:p>
        </p:txBody>
      </p:sp>
      <p:sp>
        <p:nvSpPr>
          <p:cNvPr id="1048586" name="TextBox 5"/>
          <p:cNvSpPr txBox="1"/>
          <p:nvPr/>
        </p:nvSpPr>
        <p:spPr>
          <a:xfrm>
            <a:off x="1809750" y="3194744"/>
            <a:ext cx="8572500" cy="67032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2640"/>
              </a:lnSpc>
            </a:pPr>
            <a:r>
              <a:rPr b="0" sz="1650" i="1" u="none">
                <a:solidFill>
                  <a:srgbClr val="FAF6F0"/>
                </a:solidFill>
                <a:latin typeface="DM Sans Light"/>
              </a:rPr>
              <a:t>A modern, decoupled software architecture built with robust Java Interfaces &amp; Git Best Practices</a:t>
            </a:r>
          </a:p>
        </p:txBody>
      </p:sp>
      <p:sp>
        <p:nvSpPr>
          <p:cNvPr id="1048587" name="TextBox 6"/>
          <p:cNvSpPr txBox="1"/>
          <p:nvPr/>
        </p:nvSpPr>
        <p:spPr>
          <a:xfrm>
            <a:off x="3971925" y="4493716"/>
            <a:ext cx="1819275" cy="213270"/>
          </a:xfrm>
          <a:prstGeom prst="rect"/>
          <a:noFill/>
        </p:spPr>
        <p:txBody>
          <a:bodyPr anchor="t" bIns="0" lIns="247650" rIns="0" tIns="0" wrap="square">
            <a:spAutoFit/>
          </a:bodyPr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FAF6F0"/>
                </a:solidFill>
                <a:latin typeface="DM Sans"/>
              </a:rPr>
              <a:t>Presented by: 5 Speakers</a:t>
            </a:r>
          </a:p>
        </p:txBody>
      </p:sp>
      <p:sp>
        <p:nvSpPr>
          <p:cNvPr id="1048588" name="TextBox 7"/>
          <p:cNvSpPr txBox="1"/>
          <p:nvPr/>
        </p:nvSpPr>
        <p:spPr>
          <a:xfrm>
            <a:off x="6076950" y="4493716"/>
            <a:ext cx="2143125" cy="213270"/>
          </a:xfrm>
          <a:prstGeom prst="rect"/>
          <a:noFill/>
        </p:spPr>
        <p:txBody>
          <a:bodyPr anchor="t" bIns="0" lIns="190500" rIns="0" tIns="0" wrap="square">
            <a:spAutoFit/>
          </a:bodyPr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FAF6F0"/>
                </a:solidFill>
                <a:latin typeface="DM Sans"/>
              </a:rPr>
              <a:t>Submission Date: July 20, 2026</a:t>
            </a:r>
          </a:p>
        </p:txBody>
      </p:sp>
      <p:pic>
        <p:nvPicPr>
          <p:cNvPr id="2097154" name="Picture 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971925" y="4531816"/>
            <a:ext cx="171450" cy="133350"/>
          </a:xfrm>
          <a:prstGeom prst="rect"/>
        </p:spPr>
      </p:pic>
      <p:pic>
        <p:nvPicPr>
          <p:cNvPr id="2097155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076950" y="4531816"/>
            <a:ext cx="114300" cy="13335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1" name=""/>
        <p:cNvGrpSpPr/>
        <p:nvPr/>
      </p:nvGrpSpPr>
      <p:grpSpPr>
        <a:xfrm/>
      </p:grpSpPr>
      <p:pic>
        <p:nvPicPr>
          <p:cNvPr id="2097161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62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183159"/>
            <a:ext cx="5191125" cy="3367831"/>
          </a:xfrm>
          <a:prstGeom prst="rect"/>
        </p:spPr>
      </p:pic>
      <p:pic>
        <p:nvPicPr>
          <p:cNvPr id="2097163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334125" y="2183159"/>
            <a:ext cx="5191125" cy="3367831"/>
          </a:xfrm>
          <a:prstGeom prst="rect"/>
        </p:spPr>
      </p:pic>
      <p:sp>
        <p:nvSpPr>
          <p:cNvPr id="1048606" name="TextBox 4"/>
          <p:cNvSpPr txBox="1"/>
          <p:nvPr/>
        </p:nvSpPr>
        <p:spPr>
          <a:xfrm>
            <a:off x="962025" y="2478434"/>
            <a:ext cx="4830603" cy="266700"/>
          </a:xfrm>
          <a:prstGeom prst="rect"/>
          <a:noFill/>
        </p:spPr>
        <p:txBody>
          <a:bodyPr anchor="t" bIns="0" lIns="323850" rIns="0" tIns="0" wrap="square">
            <a:spAutoFit/>
          </a:bodyPr>
          <a:p>
            <a:pPr algn="l"/>
            <a:r>
              <a:rPr b="1" sz="1800" i="0" u="none">
                <a:solidFill>
                  <a:srgbClr val="DC2626"/>
                </a:solidFill>
                <a:latin typeface="Merriweather"/>
              </a:rPr>
              <a:t>BEFORE: Messy Monolith</a:t>
            </a:r>
          </a:p>
        </p:txBody>
      </p:sp>
      <p:sp>
        <p:nvSpPr>
          <p:cNvPr id="1048607" name="TextBox 5"/>
          <p:cNvSpPr txBox="1"/>
          <p:nvPr/>
        </p:nvSpPr>
        <p:spPr>
          <a:xfrm>
            <a:off x="962025" y="2916584"/>
            <a:ext cx="4600575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One giant </a:t>
            </a:r>
            <a:r>
              <a:rPr b="1" sz="1200" i="0" u="none">
                <a:solidFill>
                  <a:srgbClr val="2B1E17"/>
                </a:solidFill>
                <a:latin typeface="DM Sans"/>
              </a:rPr>
              <a:t>OrderProcessor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class handling multiple, unrelated tasks in a single module:</a:t>
            </a:r>
          </a:p>
        </p:txBody>
      </p:sp>
      <p:sp>
        <p:nvSpPr>
          <p:cNvPr id="1048608" name="TextBox 6"/>
          <p:cNvSpPr txBox="1"/>
          <p:nvPr/>
        </p:nvSpPr>
        <p:spPr>
          <a:xfrm>
            <a:off x="962025" y="4899570"/>
            <a:ext cx="4600575" cy="213270"/>
          </a:xfrm>
          <a:prstGeom prst="rect"/>
          <a:noFill/>
        </p:spPr>
        <p:txBody>
          <a:bodyPr anchor="t" bIns="0" lIns="133350" rIns="0" tIns="0" wrap="square">
            <a:spAutoFit/>
          </a:bodyPr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DC2626"/>
                </a:solidFill>
                <a:latin typeface="DM Sans"/>
              </a:rPr>
              <a:t>Fragile design: Editing tax rules breaks receipt printing.</a:t>
            </a:r>
          </a:p>
        </p:txBody>
      </p:sp>
      <p:sp>
        <p:nvSpPr>
          <p:cNvPr id="1048609" name="TextBox 7"/>
          <p:cNvSpPr txBox="1"/>
          <p:nvPr/>
        </p:nvSpPr>
        <p:spPr>
          <a:xfrm>
            <a:off x="6629400" y="2592734"/>
            <a:ext cx="4830603" cy="266700"/>
          </a:xfrm>
          <a:prstGeom prst="rect"/>
          <a:noFill/>
        </p:spPr>
        <p:txBody>
          <a:bodyPr anchor="t" bIns="0" lIns="323850" rIns="0" tIns="0" wrap="square">
            <a:spAutoFit/>
          </a:bodyPr>
          <a:p>
            <a:pPr algn="l"/>
            <a:r>
              <a:rPr b="1" sz="1800" i="0" u="none">
                <a:solidFill>
                  <a:srgbClr val="16A34A"/>
                </a:solidFill>
                <a:latin typeface="Merriweather"/>
              </a:rPr>
              <a:t>AFTER: Decoupled Components</a:t>
            </a:r>
          </a:p>
        </p:txBody>
      </p:sp>
      <p:sp>
        <p:nvSpPr>
          <p:cNvPr id="1048610" name="TextBox 8"/>
          <p:cNvSpPr txBox="1"/>
          <p:nvPr/>
        </p:nvSpPr>
        <p:spPr>
          <a:xfrm>
            <a:off x="6629400" y="3030884"/>
            <a:ext cx="4600575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Granular architectural components, each owning exactly </a:t>
            </a:r>
            <a:r>
              <a:rPr b="1" sz="1200" i="0" u="none">
                <a:solidFill>
                  <a:srgbClr val="2B1E17"/>
                </a:solidFill>
                <a:latin typeface="DM Sans"/>
              </a:rPr>
              <a:t>ONE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clearly defined responsibility:</a:t>
            </a:r>
          </a:p>
        </p:txBody>
      </p:sp>
      <p:sp>
        <p:nvSpPr>
          <p:cNvPr id="1048611" name="TextBox 9"/>
          <p:cNvSpPr txBox="1"/>
          <p:nvPr/>
        </p:nvSpPr>
        <p:spPr>
          <a:xfrm>
            <a:off x="6629400" y="4785270"/>
            <a:ext cx="4600575" cy="213270"/>
          </a:xfrm>
          <a:prstGeom prst="rect"/>
          <a:noFill/>
        </p:spPr>
        <p:txBody>
          <a:bodyPr anchor="t" bIns="0" lIns="133350" rIns="0" tIns="0" wrap="square">
            <a:spAutoFit/>
          </a:bodyPr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16A34A"/>
                </a:solidFill>
                <a:latin typeface="DM Sans"/>
              </a:rPr>
              <a:t>Extensible: Swap components instantly with no regression.</a:t>
            </a:r>
          </a:p>
        </p:txBody>
      </p:sp>
      <p:pic>
        <p:nvPicPr>
          <p:cNvPr id="2097164" name="Picture 1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62025" y="2507009"/>
            <a:ext cx="228600" cy="228600"/>
          </a:xfrm>
          <a:prstGeom prst="rect"/>
        </p:spPr>
      </p:pic>
      <p:sp>
        <p:nvSpPr>
          <p:cNvPr id="1048612" name="TextBox 11"/>
          <p:cNvSpPr txBox="1"/>
          <p:nvPr/>
        </p:nvSpPr>
        <p:spPr>
          <a:xfrm>
            <a:off x="1228725" y="3547020"/>
            <a:ext cx="433387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Calculating promotional discounts</a:t>
            </a:r>
          </a:p>
        </p:txBody>
      </p:sp>
      <p:sp>
        <p:nvSpPr>
          <p:cNvPr id="1048613" name="TextBox 12"/>
          <p:cNvSpPr txBox="1"/>
          <p:nvPr/>
        </p:nvSpPr>
        <p:spPr>
          <a:xfrm>
            <a:off x="1228725" y="3889920"/>
            <a:ext cx="433387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Hardcoding Value-Added Tax (VAT) computations</a:t>
            </a:r>
          </a:p>
        </p:txBody>
      </p:sp>
      <p:sp>
        <p:nvSpPr>
          <p:cNvPr id="1048614" name="TextBox 13"/>
          <p:cNvSpPr txBox="1"/>
          <p:nvPr/>
        </p:nvSpPr>
        <p:spPr>
          <a:xfrm>
            <a:off x="1228725" y="4232820"/>
            <a:ext cx="433387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Formatting print layouts and writing logs directly to local file systems</a:t>
            </a:r>
          </a:p>
        </p:txBody>
      </p:sp>
      <p:pic>
        <p:nvPicPr>
          <p:cNvPr id="2097165" name="Picture 1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62025" y="4937670"/>
            <a:ext cx="133350" cy="133350"/>
          </a:xfrm>
          <a:prstGeom prst="rect"/>
        </p:spPr>
      </p:pic>
      <p:pic>
        <p:nvPicPr>
          <p:cNvPr id="2097166" name="Picture 1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629400" y="2621309"/>
            <a:ext cx="228600" cy="228600"/>
          </a:xfrm>
          <a:prstGeom prst="rect"/>
        </p:spPr>
      </p:pic>
      <p:sp>
        <p:nvSpPr>
          <p:cNvPr id="1048615" name="TextBox 16"/>
          <p:cNvSpPr txBox="1"/>
          <p:nvPr/>
        </p:nvSpPr>
        <p:spPr>
          <a:xfrm>
            <a:off x="6896100" y="3661320"/>
            <a:ext cx="433387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Isolate mathematical tax rules</a:t>
            </a:r>
          </a:p>
        </p:txBody>
      </p:sp>
      <p:sp>
        <p:nvSpPr>
          <p:cNvPr id="1048616" name="TextBox 17"/>
          <p:cNvSpPr txBox="1"/>
          <p:nvPr/>
        </p:nvSpPr>
        <p:spPr>
          <a:xfrm>
            <a:off x="6896100" y="4004220"/>
            <a:ext cx="433387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Modularize receipt formatting templates</a:t>
            </a:r>
          </a:p>
        </p:txBody>
      </p:sp>
      <p:sp>
        <p:nvSpPr>
          <p:cNvPr id="1048617" name="TextBox 18"/>
          <p:cNvSpPr txBox="1"/>
          <p:nvPr/>
        </p:nvSpPr>
        <p:spPr>
          <a:xfrm>
            <a:off x="6896100" y="4347120"/>
            <a:ext cx="433387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Abstract filesystem logging from calculations</a:t>
            </a:r>
          </a:p>
        </p:txBody>
      </p:sp>
      <p:pic>
        <p:nvPicPr>
          <p:cNvPr id="2097167" name="Picture 1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6629400" y="4823370"/>
            <a:ext cx="133350" cy="133350"/>
          </a:xfrm>
          <a:prstGeom prst="rect"/>
        </p:spPr>
      </p:pic>
      <p:sp>
        <p:nvSpPr>
          <p:cNvPr id="1048618" name="TextBox 20"/>
          <p:cNvSpPr txBox="1"/>
          <p:nvPr/>
        </p:nvSpPr>
        <p:spPr>
          <a:xfrm>
            <a:off x="962025" y="3556545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19" name="TextBox 21"/>
          <p:cNvSpPr txBox="1"/>
          <p:nvPr/>
        </p:nvSpPr>
        <p:spPr>
          <a:xfrm>
            <a:off x="962025" y="3899445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20" name="TextBox 22"/>
          <p:cNvSpPr txBox="1"/>
          <p:nvPr/>
        </p:nvSpPr>
        <p:spPr>
          <a:xfrm>
            <a:off x="962025" y="4242345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21" name="TextBox 23"/>
          <p:cNvSpPr txBox="1"/>
          <p:nvPr/>
        </p:nvSpPr>
        <p:spPr>
          <a:xfrm>
            <a:off x="6629400" y="3670845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22" name="TextBox 24"/>
          <p:cNvSpPr txBox="1"/>
          <p:nvPr/>
        </p:nvSpPr>
        <p:spPr>
          <a:xfrm>
            <a:off x="6629400" y="4013745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23" name="TextBox 25"/>
          <p:cNvSpPr txBox="1"/>
          <p:nvPr/>
        </p:nvSpPr>
        <p:spPr>
          <a:xfrm>
            <a:off x="6629400" y="4356645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24" name="TextBox 26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The Problem: Tight Coupling in Base Code</a:t>
            </a:r>
          </a:p>
        </p:txBody>
      </p:sp>
      <p:sp>
        <p:nvSpPr>
          <p:cNvPr id="1048625" name="Rectangle 27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2" name=""/>
        <p:cNvGrpSpPr/>
        <p:nvPr/>
      </p:nvGrpSpPr>
      <p:grpSpPr>
        <a:xfrm/>
      </p:grpSpPr>
      <p:pic>
        <p:nvPicPr>
          <p:cNvPr id="2097168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69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983259"/>
            <a:ext cx="3429000" cy="2493466"/>
          </a:xfrm>
          <a:prstGeom prst="rect"/>
        </p:spPr>
      </p:pic>
      <p:pic>
        <p:nvPicPr>
          <p:cNvPr id="2097170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381500" y="2983259"/>
            <a:ext cx="3429000" cy="2493466"/>
          </a:xfrm>
          <a:prstGeom prst="rect"/>
        </p:spPr>
      </p:pic>
      <p:pic>
        <p:nvPicPr>
          <p:cNvPr id="2097171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096250" y="2983259"/>
            <a:ext cx="3429000" cy="2493466"/>
          </a:xfrm>
          <a:prstGeom prst="rect"/>
        </p:spPr>
      </p:pic>
      <p:sp>
        <p:nvSpPr>
          <p:cNvPr id="1048626" name="TextBox 5"/>
          <p:cNvSpPr txBox="1"/>
          <p:nvPr/>
        </p:nvSpPr>
        <p:spPr>
          <a:xfrm>
            <a:off x="666750" y="2257573"/>
            <a:ext cx="10858500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By creating abstract Java </a:t>
            </a:r>
            <a:r>
              <a:rPr b="1" sz="1200" i="0" u="none">
                <a:solidFill>
                  <a:srgbClr val="2B1E17"/>
                </a:solidFill>
                <a:latin typeface="DM Sans"/>
              </a:rPr>
              <a:t>Interfaces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, our code doesn't rely on concrete, hard-coded implementations. Instead, it interacts through reliable behavioral agreements.</a:t>
            </a:r>
          </a:p>
        </p:txBody>
      </p:sp>
      <p:pic>
        <p:nvPicPr>
          <p:cNvPr id="2097172" name="Picture 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23925" y="3240434"/>
            <a:ext cx="476250" cy="476250"/>
          </a:xfrm>
          <a:prstGeom prst="rect"/>
        </p:spPr>
      </p:pic>
      <p:sp>
        <p:nvSpPr>
          <p:cNvPr id="1048627" name="TextBox 7"/>
          <p:cNvSpPr txBox="1"/>
          <p:nvPr/>
        </p:nvSpPr>
        <p:spPr>
          <a:xfrm>
            <a:off x="923925" y="3907184"/>
            <a:ext cx="306038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Discount Policies</a:t>
            </a:r>
          </a:p>
        </p:txBody>
      </p:sp>
      <p:sp>
        <p:nvSpPr>
          <p:cNvPr id="1048628" name="TextBox 8"/>
          <p:cNvSpPr txBox="1"/>
          <p:nvPr/>
        </p:nvSpPr>
        <p:spPr>
          <a:xfrm>
            <a:off x="923925" y="4345334"/>
            <a:ext cx="2914650" cy="7313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Defines how promotional discounts calculate reductions based on consumer demographics and legal codes.</a:t>
            </a:r>
          </a:p>
        </p:txBody>
      </p:sp>
      <p:pic>
        <p:nvPicPr>
          <p:cNvPr id="2097173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638675" y="3240434"/>
            <a:ext cx="476250" cy="476250"/>
          </a:xfrm>
          <a:prstGeom prst="rect"/>
        </p:spPr>
      </p:pic>
      <p:sp>
        <p:nvSpPr>
          <p:cNvPr id="1048629" name="TextBox 10"/>
          <p:cNvSpPr txBox="1"/>
          <p:nvPr/>
        </p:nvSpPr>
        <p:spPr>
          <a:xfrm>
            <a:off x="4638675" y="3907184"/>
            <a:ext cx="306038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Tax Calculators</a:t>
            </a:r>
          </a:p>
        </p:txBody>
      </p:sp>
      <p:sp>
        <p:nvSpPr>
          <p:cNvPr id="1048630" name="TextBox 11"/>
          <p:cNvSpPr txBox="1"/>
          <p:nvPr/>
        </p:nvSpPr>
        <p:spPr>
          <a:xfrm>
            <a:off x="4638675" y="4345334"/>
            <a:ext cx="2914650" cy="7313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Encapsulates fiscal logic so regional VAT updates happen in a isolated layer without affecting core orders.</a:t>
            </a:r>
          </a:p>
        </p:txBody>
      </p:sp>
      <p:pic>
        <p:nvPicPr>
          <p:cNvPr id="2097174" name="Picture 1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8353425" y="3240434"/>
            <a:ext cx="476250" cy="476250"/>
          </a:xfrm>
          <a:prstGeom prst="rect"/>
        </p:spPr>
      </p:pic>
      <p:sp>
        <p:nvSpPr>
          <p:cNvPr id="1048631" name="TextBox 13"/>
          <p:cNvSpPr txBox="1"/>
          <p:nvPr/>
        </p:nvSpPr>
        <p:spPr>
          <a:xfrm>
            <a:off x="8353425" y="3907184"/>
            <a:ext cx="306038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Output formatters</a:t>
            </a:r>
          </a:p>
        </p:txBody>
      </p:sp>
      <p:sp>
        <p:nvSpPr>
          <p:cNvPr id="1048632" name="TextBox 14"/>
          <p:cNvSpPr txBox="1"/>
          <p:nvPr/>
        </p:nvSpPr>
        <p:spPr>
          <a:xfrm>
            <a:off x="8353425" y="4345334"/>
            <a:ext cx="2914650" cy="7313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Handles the presentation level—allowing effortless output switches between Console, SMS, App or HTML receipts.</a:t>
            </a:r>
          </a:p>
        </p:txBody>
      </p:sp>
      <p:pic>
        <p:nvPicPr>
          <p:cNvPr id="2097175" name="Picture 1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1085850" y="3383309"/>
            <a:ext cx="152400" cy="190500"/>
          </a:xfrm>
          <a:prstGeom prst="rect"/>
        </p:spPr>
      </p:pic>
      <p:pic>
        <p:nvPicPr>
          <p:cNvPr id="2097176" name="Picture 1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4805362" y="3383309"/>
            <a:ext cx="142875" cy="190500"/>
          </a:xfrm>
          <a:prstGeom prst="rect"/>
        </p:spPr>
      </p:pic>
      <p:pic>
        <p:nvPicPr>
          <p:cNvPr id="2097177" name="Picture 1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8520112" y="3383309"/>
            <a:ext cx="142875" cy="190500"/>
          </a:xfrm>
          <a:prstGeom prst="rect"/>
        </p:spPr>
      </p:pic>
      <p:sp>
        <p:nvSpPr>
          <p:cNvPr id="1048633" name="TextBox 18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The Solution: Interface-Driven Architecture</a:t>
            </a:r>
          </a:p>
        </p:txBody>
      </p:sp>
      <p:sp>
        <p:nvSpPr>
          <p:cNvPr id="1048634" name="Rectangle 19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3" name=""/>
        <p:cNvGrpSpPr/>
        <p:nvPr/>
      </p:nvGrpSpPr>
      <p:grpSpPr>
        <a:xfrm/>
      </p:grpSpPr>
      <p:pic>
        <p:nvPicPr>
          <p:cNvPr id="2097178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79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34125" y="2468016"/>
            <a:ext cx="5191125" cy="1500782"/>
          </a:xfrm>
          <a:prstGeom prst="rect"/>
        </p:spPr>
      </p:pic>
      <p:sp>
        <p:nvSpPr>
          <p:cNvPr id="1048635" name="TextBox 3"/>
          <p:cNvSpPr txBox="1"/>
          <p:nvPr/>
        </p:nvSpPr>
        <p:spPr>
          <a:xfrm>
            <a:off x="666750" y="2468016"/>
            <a:ext cx="5450681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Encapsulating Order State</a:t>
            </a:r>
          </a:p>
        </p:txBody>
      </p:sp>
      <p:sp>
        <p:nvSpPr>
          <p:cNvPr id="1048636" name="TextBox 4"/>
          <p:cNvSpPr txBox="1"/>
          <p:nvPr/>
        </p:nvSpPr>
        <p:spPr>
          <a:xfrm>
            <a:off x="666750" y="2906166"/>
            <a:ext cx="5191125" cy="7313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Think of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Order.java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as a clean, standardized digital order slip. Its sole job is to hold accurate transactional properties without calculating taxes, applying codes, or printing.</a:t>
            </a:r>
          </a:p>
        </p:txBody>
      </p:sp>
      <p:sp>
        <p:nvSpPr>
          <p:cNvPr id="1048637" name="TextBox 5"/>
          <p:cNvSpPr txBox="1"/>
          <p:nvPr/>
        </p:nvSpPr>
        <p:spPr>
          <a:xfrm>
            <a:off x="933450" y="3780383"/>
            <a:ext cx="49244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customerName: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The consumer's identity (e.g., senior citizen status verification).</a:t>
            </a:r>
          </a:p>
        </p:txBody>
      </p:sp>
      <p:sp>
        <p:nvSpPr>
          <p:cNvPr id="1048638" name="TextBox 6"/>
          <p:cNvSpPr txBox="1"/>
          <p:nvPr/>
        </p:nvSpPr>
        <p:spPr>
          <a:xfrm>
            <a:off x="933450" y="4351883"/>
            <a:ext cx="49244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coffeeType: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The purchased beverage.</a:t>
            </a:r>
          </a:p>
        </p:txBody>
      </p:sp>
      <p:sp>
        <p:nvSpPr>
          <p:cNvPr id="1048639" name="TextBox 7"/>
          <p:cNvSpPr txBox="1"/>
          <p:nvPr/>
        </p:nvSpPr>
        <p:spPr>
          <a:xfrm>
            <a:off x="933450" y="4694783"/>
            <a:ext cx="49244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basePrice: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The raw menu price prior to applying discounts or local taxes.</a:t>
            </a:r>
          </a:p>
        </p:txBody>
      </p:sp>
      <p:sp>
        <p:nvSpPr>
          <p:cNvPr id="1048640" name="TextBox 8"/>
          <p:cNvSpPr txBox="1"/>
          <p:nvPr/>
        </p:nvSpPr>
        <p:spPr>
          <a:xfrm>
            <a:off x="666750" y="3789908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41" name="TextBox 9"/>
          <p:cNvSpPr txBox="1"/>
          <p:nvPr/>
        </p:nvSpPr>
        <p:spPr>
          <a:xfrm>
            <a:off x="666750" y="4361408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42" name="TextBox 10"/>
          <p:cNvSpPr txBox="1"/>
          <p:nvPr/>
        </p:nvSpPr>
        <p:spPr>
          <a:xfrm>
            <a:off x="666750" y="4704308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43" name="TextBox 11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Core Domain Model: Order.java</a:t>
            </a:r>
          </a:p>
        </p:txBody>
      </p:sp>
      <p:sp>
        <p:nvSpPr>
          <p:cNvPr id="1048644" name="Rectangle 12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4" name=""/>
        <p:cNvGrpSpPr/>
        <p:nvPr/>
      </p:nvGrpSpPr>
      <p:grpSpPr>
        <a:xfrm/>
      </p:grpSpPr>
      <p:pic>
        <p:nvPicPr>
          <p:cNvPr id="2097180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81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3353692"/>
            <a:ext cx="10858500" cy="1704975"/>
          </a:xfrm>
          <a:prstGeom prst="rect"/>
        </p:spPr>
      </p:pic>
      <p:sp>
        <p:nvSpPr>
          <p:cNvPr id="1048645" name="TextBox 3"/>
          <p:cNvSpPr txBox="1"/>
          <p:nvPr/>
        </p:nvSpPr>
        <p:spPr>
          <a:xfrm>
            <a:off x="666750" y="2675632"/>
            <a:ext cx="10858500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Using the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DiscountPolicy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interface, we implemented clean compliance with local laws (such as Philippine RA 9994 for Senior Citizens &amp; PWDs) without altering core code.</a:t>
            </a:r>
          </a:p>
        </p:txBody>
      </p:sp>
      <p:graphicFrame>
        <p:nvGraphicFramePr>
          <p:cNvPr id="4194304" name="Table 4"/>
          <p:cNvGraphicFramePr>
            <a:graphicFrameLocks noGrp="1"/>
          </p:cNvGraphicFramePr>
          <p:nvPr/>
        </p:nvGraphicFramePr>
        <p:xfrm>
          <a:off x="676275" y="3363217"/>
          <a:ext cx="10839448" cy="1685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950"/>
                <a:gridCol w="1849784"/>
                <a:gridCol w="3392834"/>
                <a:gridCol w="3329880"/>
              </a:tblGrid>
              <a:tr h="561975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Policy Implementation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Target Audience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Calculated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Code Architecture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</a:tr>
              <a:tr h="561975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NoDiscountPolicy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Regular Walk-in Customers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Returns the unaltered baseline menu price. (₱150.00 → ₱150.00)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Allows standard transaction pipelines without special bypass logic.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561975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SeniorCitizenDiscountPolicy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Senior Citizens &amp; PWDs (RA 9994)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Subtracts a clean 20% flat discount before applying taxes. (₱90.00 → ₱72.00)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Implemented cleanly in a separate class. Swappable with zero side effects.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1048646" name="Rectangle 5"/>
          <p:cNvSpPr/>
          <p:nvPr/>
        </p:nvSpPr>
        <p:spPr>
          <a:xfrm>
            <a:off x="676275" y="4425255"/>
            <a:ext cx="2266950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Rectangle 6"/>
          <p:cNvSpPr/>
          <p:nvPr/>
        </p:nvSpPr>
        <p:spPr>
          <a:xfrm>
            <a:off x="2943225" y="4425255"/>
            <a:ext cx="1849784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8" name="Rectangle 7"/>
          <p:cNvSpPr/>
          <p:nvPr/>
        </p:nvSpPr>
        <p:spPr>
          <a:xfrm>
            <a:off x="4793009" y="4425255"/>
            <a:ext cx="3392834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9" name="Rectangle 8"/>
          <p:cNvSpPr/>
          <p:nvPr/>
        </p:nvSpPr>
        <p:spPr>
          <a:xfrm>
            <a:off x="8185844" y="4425255"/>
            <a:ext cx="3329880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0" name="TextBox 9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Dynamic Discount Policies</a:t>
            </a:r>
          </a:p>
        </p:txBody>
      </p:sp>
      <p:sp>
        <p:nvSpPr>
          <p:cNvPr id="1048651" name="Rectangle 10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5" name=""/>
        <p:cNvGrpSpPr/>
        <p:nvPr/>
      </p:nvGrpSpPr>
      <p:grpSpPr>
        <a:xfrm/>
      </p:grpSpPr>
      <p:pic>
        <p:nvPicPr>
          <p:cNvPr id="2097182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83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867025"/>
            <a:ext cx="4343400" cy="2000250"/>
          </a:xfrm>
          <a:prstGeom prst="rect"/>
        </p:spPr>
      </p:pic>
      <p:sp>
        <p:nvSpPr>
          <p:cNvPr id="1048652" name="TextBox 3"/>
          <p:cNvSpPr txBox="1"/>
          <p:nvPr/>
        </p:nvSpPr>
        <p:spPr>
          <a:xfrm>
            <a:off x="1047750" y="3248025"/>
            <a:ext cx="3581400" cy="914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FAF6F0"/>
                </a:solidFill>
                <a:latin typeface="Merriweather"/>
              </a:rPr>
              <a:t>12%</a:t>
            </a:r>
          </a:p>
        </p:txBody>
      </p:sp>
      <p:sp>
        <p:nvSpPr>
          <p:cNvPr id="1048653" name="TextBox 4"/>
          <p:cNvSpPr txBox="1"/>
          <p:nvPr/>
        </p:nvSpPr>
        <p:spPr>
          <a:xfrm>
            <a:off x="1047750" y="4257675"/>
            <a:ext cx="3581400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350" i="0" u="none">
                <a:solidFill>
                  <a:srgbClr val="D97706"/>
                </a:solidFill>
                <a:latin typeface="DM Sans"/>
              </a:rPr>
              <a:t>VALUE ADDED TAX</a:t>
            </a:r>
          </a:p>
        </p:txBody>
      </p:sp>
      <p:sp>
        <p:nvSpPr>
          <p:cNvPr id="1048654" name="TextBox 5"/>
          <p:cNvSpPr txBox="1"/>
          <p:nvPr/>
        </p:nvSpPr>
        <p:spPr>
          <a:xfrm>
            <a:off x="5391150" y="2513707"/>
            <a:ext cx="6800850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Decoupling Regional Fiscal Math</a:t>
            </a:r>
          </a:p>
        </p:txBody>
      </p:sp>
      <p:sp>
        <p:nvSpPr>
          <p:cNvPr id="1048655" name="TextBox 6"/>
          <p:cNvSpPr txBox="1"/>
          <p:nvPr/>
        </p:nvSpPr>
        <p:spPr>
          <a:xfrm>
            <a:off x="5391150" y="2951857"/>
            <a:ext cx="6515100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Tax legislation changes constantly. In our redesigned software system, the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TaxCalculator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interface isolates these numbers cleanly.</a:t>
            </a:r>
          </a:p>
        </p:txBody>
      </p:sp>
      <p:sp>
        <p:nvSpPr>
          <p:cNvPr id="1048656" name="TextBox 7"/>
          <p:cNvSpPr txBox="1"/>
          <p:nvPr/>
        </p:nvSpPr>
        <p:spPr>
          <a:xfrm>
            <a:off x="5657850" y="3582292"/>
            <a:ext cx="624840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VatTaxCalculator: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Outlines standard Philippine 12% VAT calculations.</a:t>
            </a:r>
          </a:p>
        </p:txBody>
      </p:sp>
      <p:sp>
        <p:nvSpPr>
          <p:cNvPr id="1048657" name="TextBox 8"/>
          <p:cNvSpPr txBox="1"/>
          <p:nvPr/>
        </p:nvSpPr>
        <p:spPr>
          <a:xfrm>
            <a:off x="5657850" y="3925192"/>
            <a:ext cx="624840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Mathematical Formula:</a:t>
            </a:r>
          </a:p>
        </p:txBody>
      </p:sp>
      <p:sp>
        <p:nvSpPr>
          <p:cNvPr id="1048658" name="TextBox 9"/>
          <p:cNvSpPr txBox="1"/>
          <p:nvPr/>
        </p:nvSpPr>
        <p:spPr>
          <a:xfrm>
            <a:off x="5657850" y="4420492"/>
            <a:ext cx="6248400" cy="685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Clean Modifiability: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If regional sales taxes change from 12% to 15%, we update just one clean number in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VatTaxCalculator.java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. The remaining order logic continues running seamlessly.</a:t>
            </a:r>
          </a:p>
        </p:txBody>
      </p:sp>
      <p:sp>
        <p:nvSpPr>
          <p:cNvPr id="1048659" name="TextBox 10"/>
          <p:cNvSpPr txBox="1"/>
          <p:nvPr/>
        </p:nvSpPr>
        <p:spPr>
          <a:xfrm>
            <a:off x="5391150" y="359181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60" name="TextBox 11"/>
          <p:cNvSpPr txBox="1"/>
          <p:nvPr/>
        </p:nvSpPr>
        <p:spPr>
          <a:xfrm>
            <a:off x="5391150" y="393471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pic>
        <p:nvPicPr>
          <p:cNvPr id="2097184" name="Picture 1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657850" y="4153792"/>
            <a:ext cx="6248400" cy="152400"/>
          </a:xfrm>
          <a:prstGeom prst="rect"/>
        </p:spPr>
      </p:pic>
      <p:sp>
        <p:nvSpPr>
          <p:cNvPr id="1048661" name="TextBox 13"/>
          <p:cNvSpPr txBox="1"/>
          <p:nvPr/>
        </p:nvSpPr>
        <p:spPr>
          <a:xfrm>
            <a:off x="5391150" y="443001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62" name="TextBox 14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Flexible Tax Calculations</a:t>
            </a:r>
          </a:p>
        </p:txBody>
      </p:sp>
      <p:sp>
        <p:nvSpPr>
          <p:cNvPr id="1048663" name="Rectangle 15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6" name=""/>
        <p:cNvGrpSpPr/>
        <p:nvPr/>
      </p:nvGrpSpPr>
      <p:grpSpPr>
        <a:xfrm/>
      </p:grpSpPr>
      <p:pic>
        <p:nvPicPr>
          <p:cNvPr id="2097185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86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592734"/>
            <a:ext cx="5191125" cy="3030735"/>
          </a:xfrm>
          <a:prstGeom prst="rect"/>
        </p:spPr>
      </p:pic>
      <p:pic>
        <p:nvPicPr>
          <p:cNvPr id="2097187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334125" y="2592734"/>
            <a:ext cx="5191125" cy="3030735"/>
          </a:xfrm>
          <a:prstGeom prst="rect"/>
        </p:spPr>
      </p:pic>
      <p:sp>
        <p:nvSpPr>
          <p:cNvPr id="1048664" name="TextBox 4"/>
          <p:cNvSpPr txBox="1"/>
          <p:nvPr/>
        </p:nvSpPr>
        <p:spPr>
          <a:xfrm>
            <a:off x="666750" y="2110829"/>
            <a:ext cx="10858500" cy="2437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Our code clearly separates receipt layout presentation from actual data storage mechanisms using targeted Interfaces.</a:t>
            </a:r>
          </a:p>
        </p:txBody>
      </p:sp>
      <p:sp>
        <p:nvSpPr>
          <p:cNvPr id="1048665" name="TextBox 5"/>
          <p:cNvSpPr txBox="1"/>
          <p:nvPr/>
        </p:nvSpPr>
        <p:spPr>
          <a:xfrm>
            <a:off x="962025" y="2888009"/>
            <a:ext cx="4830603" cy="266700"/>
          </a:xfrm>
          <a:prstGeom prst="rect"/>
          <a:noFill/>
        </p:spPr>
        <p:txBody>
          <a:bodyPr anchor="t" bIns="0" lIns="26670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ReceiptFormatter</a:t>
            </a:r>
          </a:p>
        </p:txBody>
      </p:sp>
      <p:sp>
        <p:nvSpPr>
          <p:cNvPr id="1048666" name="TextBox 6"/>
          <p:cNvSpPr txBox="1"/>
          <p:nvPr/>
        </p:nvSpPr>
        <p:spPr>
          <a:xfrm>
            <a:off x="962025" y="3326159"/>
            <a:ext cx="4600575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Constructs formatted human-readable strings from raw transaction statistics.</a:t>
            </a:r>
          </a:p>
        </p:txBody>
      </p:sp>
      <p:sp>
        <p:nvSpPr>
          <p:cNvPr id="1048667" name="TextBox 7"/>
          <p:cNvSpPr txBox="1"/>
          <p:nvPr/>
        </p:nvSpPr>
        <p:spPr>
          <a:xfrm>
            <a:off x="6629400" y="3124200"/>
            <a:ext cx="4830603" cy="266700"/>
          </a:xfrm>
          <a:prstGeom prst="rect"/>
          <a:noFill/>
        </p:spPr>
        <p:txBody>
          <a:bodyPr anchor="t" bIns="0" lIns="295275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OrderRepository</a:t>
            </a:r>
          </a:p>
        </p:txBody>
      </p:sp>
      <p:sp>
        <p:nvSpPr>
          <p:cNvPr id="1048668" name="TextBox 8"/>
          <p:cNvSpPr txBox="1"/>
          <p:nvPr/>
        </p:nvSpPr>
        <p:spPr>
          <a:xfrm>
            <a:off x="6629400" y="3562350"/>
            <a:ext cx="4600575" cy="2437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Specifies standard CRUD operations to safely store records.</a:t>
            </a:r>
          </a:p>
        </p:txBody>
      </p:sp>
      <p:pic>
        <p:nvPicPr>
          <p:cNvPr id="2097188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62025" y="2916584"/>
            <a:ext cx="171450" cy="228600"/>
          </a:xfrm>
          <a:prstGeom prst="rect"/>
        </p:spPr>
      </p:pic>
      <p:sp>
        <p:nvSpPr>
          <p:cNvPr id="1048669" name="TextBox 10"/>
          <p:cNvSpPr txBox="1"/>
          <p:nvPr/>
        </p:nvSpPr>
        <p:spPr>
          <a:xfrm>
            <a:off x="1228725" y="3956595"/>
            <a:ext cx="433387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PlainTextReceiptFormatter: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Formats standard POS receipt outputs.</a:t>
            </a:r>
          </a:p>
        </p:txBody>
      </p:sp>
      <p:sp>
        <p:nvSpPr>
          <p:cNvPr id="1048670" name="TextBox 11"/>
          <p:cNvSpPr txBox="1"/>
          <p:nvPr/>
        </p:nvSpPr>
        <p:spPr>
          <a:xfrm>
            <a:off x="1228725" y="4528095"/>
            <a:ext cx="433387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Future Extensibility: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Easily introduce HTML, PDF, SMS or Email receipt formatters without breaking current log streams.</a:t>
            </a:r>
          </a:p>
        </p:txBody>
      </p:sp>
      <p:pic>
        <p:nvPicPr>
          <p:cNvPr id="2097189" name="Picture 1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629400" y="3152775"/>
            <a:ext cx="200025" cy="228600"/>
          </a:xfrm>
          <a:prstGeom prst="rect"/>
        </p:spPr>
      </p:pic>
      <p:sp>
        <p:nvSpPr>
          <p:cNvPr id="1048671" name="TextBox 13"/>
          <p:cNvSpPr txBox="1"/>
          <p:nvPr/>
        </p:nvSpPr>
        <p:spPr>
          <a:xfrm>
            <a:off x="6896100" y="3949005"/>
            <a:ext cx="433387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FileOrderRepository: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Directly writes clean records to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orders_log.txt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.</a:t>
            </a:r>
          </a:p>
        </p:txBody>
      </p:sp>
      <p:sp>
        <p:nvSpPr>
          <p:cNvPr id="1048672" name="TextBox 14"/>
          <p:cNvSpPr txBox="1"/>
          <p:nvPr/>
        </p:nvSpPr>
        <p:spPr>
          <a:xfrm>
            <a:off x="6896100" y="4520505"/>
            <a:ext cx="433387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Enterprise Upgrades: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Switch to PostgreSQL, MongoDB or cloud servers in minutes by implementing a new class.</a:t>
            </a:r>
          </a:p>
        </p:txBody>
      </p:sp>
      <p:sp>
        <p:nvSpPr>
          <p:cNvPr id="1048673" name="TextBox 15"/>
          <p:cNvSpPr txBox="1"/>
          <p:nvPr/>
        </p:nvSpPr>
        <p:spPr>
          <a:xfrm>
            <a:off x="962025" y="3966120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74" name="TextBox 16"/>
          <p:cNvSpPr txBox="1"/>
          <p:nvPr/>
        </p:nvSpPr>
        <p:spPr>
          <a:xfrm>
            <a:off x="962025" y="4537620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75" name="TextBox 17"/>
          <p:cNvSpPr txBox="1"/>
          <p:nvPr/>
        </p:nvSpPr>
        <p:spPr>
          <a:xfrm>
            <a:off x="6629400" y="3958530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76" name="TextBox 18"/>
          <p:cNvSpPr txBox="1"/>
          <p:nvPr/>
        </p:nvSpPr>
        <p:spPr>
          <a:xfrm>
            <a:off x="6629400" y="4530030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677" name="TextBox 19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Output Formatters &amp; File Repositories</a:t>
            </a:r>
          </a:p>
        </p:txBody>
      </p:sp>
      <p:sp>
        <p:nvSpPr>
          <p:cNvPr id="1048678" name="Rectangle 20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7" name=""/>
        <p:cNvGrpSpPr/>
        <p:nvPr/>
      </p:nvGrpSpPr>
      <p:grpSpPr>
        <a:xfrm/>
      </p:grpSpPr>
      <p:pic>
        <p:nvPicPr>
          <p:cNvPr id="2097190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91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709862"/>
            <a:ext cx="3429000" cy="2493466"/>
          </a:xfrm>
          <a:prstGeom prst="rect"/>
        </p:spPr>
      </p:pic>
      <p:pic>
        <p:nvPicPr>
          <p:cNvPr id="2097192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381500" y="2709862"/>
            <a:ext cx="3429000" cy="2493466"/>
          </a:xfrm>
          <a:prstGeom prst="rect"/>
        </p:spPr>
      </p:pic>
      <p:pic>
        <p:nvPicPr>
          <p:cNvPr id="2097193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096250" y="2709862"/>
            <a:ext cx="3429000" cy="2493466"/>
          </a:xfrm>
          <a:prstGeom prst="rect"/>
        </p:spPr>
      </p:pic>
      <p:sp>
        <p:nvSpPr>
          <p:cNvPr id="1048679" name="TextBox 5"/>
          <p:cNvSpPr txBox="1"/>
          <p:nvPr/>
        </p:nvSpPr>
        <p:spPr>
          <a:xfrm>
            <a:off x="666750" y="2031801"/>
            <a:ext cx="10858500" cy="2438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Instead of doing all the heavy lifting,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OrderProcessor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is now simply the manager. It orchestrates helper classes to run the workflow steps in perfect sequence:</a:t>
            </a:r>
          </a:p>
        </p:txBody>
      </p:sp>
      <p:sp>
        <p:nvSpPr>
          <p:cNvPr id="1048680" name="TextBox 6"/>
          <p:cNvSpPr txBox="1"/>
          <p:nvPr/>
        </p:nvSpPr>
        <p:spPr>
          <a:xfrm>
            <a:off x="666750" y="5346203"/>
            <a:ext cx="10858500" cy="21327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1679"/>
              </a:lnSpc>
            </a:pPr>
            <a:r>
              <a:rPr b="0" sz="1050" i="1" u="none">
                <a:solidFill>
                  <a:srgbClr val="D97706"/>
                </a:solidFill>
                <a:latin typeface="DM Sans"/>
              </a:rPr>
              <a:t>This implementation uses "Dependency Injection" (DI) — swappable helper components are handed to the manager, ready to be used.</a:t>
            </a:r>
          </a:p>
        </p:txBody>
      </p:sp>
      <p:pic>
        <p:nvPicPr>
          <p:cNvPr id="2097194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23925" y="2967037"/>
            <a:ext cx="476250" cy="476250"/>
          </a:xfrm>
          <a:prstGeom prst="rect"/>
        </p:spPr>
      </p:pic>
      <p:sp>
        <p:nvSpPr>
          <p:cNvPr id="1048681" name="TextBox 8"/>
          <p:cNvSpPr txBox="1"/>
          <p:nvPr/>
        </p:nvSpPr>
        <p:spPr>
          <a:xfrm>
            <a:off x="923925" y="3633787"/>
            <a:ext cx="306038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1. Apply Discount</a:t>
            </a:r>
          </a:p>
        </p:txBody>
      </p:sp>
      <p:sp>
        <p:nvSpPr>
          <p:cNvPr id="1048682" name="TextBox 9"/>
          <p:cNvSpPr txBox="1"/>
          <p:nvPr/>
        </p:nvSpPr>
        <p:spPr>
          <a:xfrm>
            <a:off x="923925" y="4071937"/>
            <a:ext cx="2914650" cy="487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Calls the designated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DiscountPolicy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to find the correct discounted price threshold.</a:t>
            </a:r>
          </a:p>
        </p:txBody>
      </p:sp>
      <p:pic>
        <p:nvPicPr>
          <p:cNvPr id="2097195" name="Picture 1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4638675" y="2967037"/>
            <a:ext cx="476250" cy="476250"/>
          </a:xfrm>
          <a:prstGeom prst="rect"/>
        </p:spPr>
      </p:pic>
      <p:sp>
        <p:nvSpPr>
          <p:cNvPr id="1048683" name="TextBox 11"/>
          <p:cNvSpPr txBox="1"/>
          <p:nvPr/>
        </p:nvSpPr>
        <p:spPr>
          <a:xfrm>
            <a:off x="4638675" y="3633787"/>
            <a:ext cx="306038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2. Calculate Tax</a:t>
            </a:r>
          </a:p>
        </p:txBody>
      </p:sp>
      <p:sp>
        <p:nvSpPr>
          <p:cNvPr id="1048684" name="TextBox 12"/>
          <p:cNvSpPr txBox="1"/>
          <p:nvPr/>
        </p:nvSpPr>
        <p:spPr>
          <a:xfrm>
            <a:off x="4638675" y="4071937"/>
            <a:ext cx="2914650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Asks the assigned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TaxCalculator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to compute the final, tax-inclusive price.</a:t>
            </a:r>
          </a:p>
        </p:txBody>
      </p:sp>
      <p:pic>
        <p:nvPicPr>
          <p:cNvPr id="2097196" name="Picture 1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8353425" y="2967037"/>
            <a:ext cx="476250" cy="476250"/>
          </a:xfrm>
          <a:prstGeom prst="rect"/>
        </p:spPr>
      </p:pic>
      <p:sp>
        <p:nvSpPr>
          <p:cNvPr id="1048685" name="TextBox 14"/>
          <p:cNvSpPr txBox="1"/>
          <p:nvPr/>
        </p:nvSpPr>
        <p:spPr>
          <a:xfrm>
            <a:off x="8353425" y="3633787"/>
            <a:ext cx="306038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3. Format &amp; Save</a:t>
            </a:r>
          </a:p>
        </p:txBody>
      </p:sp>
      <p:sp>
        <p:nvSpPr>
          <p:cNvPr id="1048686" name="TextBox 15"/>
          <p:cNvSpPr txBox="1"/>
          <p:nvPr/>
        </p:nvSpPr>
        <p:spPr>
          <a:xfrm>
            <a:off x="8353425" y="4071937"/>
            <a:ext cx="2914650" cy="487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Triggers the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ReceiptFormatter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and outputs the results cleanly using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OrderRepository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.</a:t>
            </a:r>
          </a:p>
        </p:txBody>
      </p:sp>
      <p:pic>
        <p:nvPicPr>
          <p:cNvPr id="2097197" name="Picture 1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1066800" y="3109912"/>
            <a:ext cx="190500" cy="190500"/>
          </a:xfrm>
          <a:prstGeom prst="rect"/>
        </p:spPr>
      </p:pic>
      <p:pic>
        <p:nvPicPr>
          <p:cNvPr id="2097198" name="Picture 1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4805362" y="3109912"/>
            <a:ext cx="142875" cy="190500"/>
          </a:xfrm>
          <a:prstGeom prst="rect"/>
        </p:spPr>
      </p:pic>
      <p:pic>
        <p:nvPicPr>
          <p:cNvPr id="2097199" name="Picture 1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8520112" y="3109912"/>
            <a:ext cx="142875" cy="190500"/>
          </a:xfrm>
          <a:prstGeom prst="rect"/>
        </p:spPr>
      </p:pic>
      <p:sp>
        <p:nvSpPr>
          <p:cNvPr id="1048687" name="TextBox 19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The Coordinator: OrderProcessor</a:t>
            </a:r>
          </a:p>
        </p:txBody>
      </p:sp>
      <p:sp>
        <p:nvSpPr>
          <p:cNvPr id="1048688" name="Rectangle 20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8" name=""/>
        <p:cNvGrpSpPr/>
        <p:nvPr/>
      </p:nvGrpSpPr>
      <p:grpSpPr>
        <a:xfrm/>
      </p:grpSpPr>
      <p:pic>
        <p:nvPicPr>
          <p:cNvPr id="2097200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01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731740"/>
            <a:ext cx="10858500" cy="2705100"/>
          </a:xfrm>
          <a:prstGeom prst="rect"/>
        </p:spPr>
      </p:pic>
      <p:sp>
        <p:nvSpPr>
          <p:cNvPr id="1048689" name="TextBox 3"/>
          <p:cNvSpPr txBox="1"/>
          <p:nvPr/>
        </p:nvSpPr>
        <p:spPr>
          <a:xfrm>
            <a:off x="666750" y="2297459"/>
            <a:ext cx="10858500" cy="2437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We divided the monolithic base code into 9 focused classes. Here is the transformation summary:</a:t>
            </a:r>
          </a:p>
        </p:txBody>
      </p:sp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676275" y="2741265"/>
          <a:ext cx="10839448" cy="268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8325"/>
                <a:gridCol w="1460896"/>
                <a:gridCol w="5870227"/>
              </a:tblGrid>
              <a:tr h="447675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Refactored Class 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Classification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Primary Responsibility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Order.java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Domain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An immutable transactional model representing basic order state details.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DiscountPolicy.java</a:t>
                      </a:r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 / </a:t>
                      </a:r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TaxCalculator.java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OOP Interfaces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Decoupled behavioral contracts governing discounts and national tax algorithms.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ReceiptFormatter.java</a:t>
                      </a:r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 / </a:t>
                      </a:r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OrderRepository.java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OOP Interfaces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Contracts defining output rendering types and data storage targets.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PlainTextReceiptFormatter.java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Implementation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Generates beautifully structured text receipts for legacy thermal POS devices.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FileOrderRepository.java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Implementation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Safely appends complete transaction lines to local disk systems (</a:t>
                      </a:r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orders_log.txt</a:t>
                      </a:r>
                      <a:r>
                        <a:rPr b="0" sz="1050" i="0" u="none">
                          <a:solidFill>
                            <a:srgbClr val="4A3E3D"/>
                          </a:solidFill>
                          <a:latin typeface="DM Sans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1048690" name="Rectangle 5"/>
          <p:cNvSpPr/>
          <p:nvPr/>
        </p:nvSpPr>
        <p:spPr>
          <a:xfrm>
            <a:off x="676275" y="3631852"/>
            <a:ext cx="3508325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1" name="Rectangle 6"/>
          <p:cNvSpPr/>
          <p:nvPr/>
        </p:nvSpPr>
        <p:spPr>
          <a:xfrm>
            <a:off x="4184600" y="3631852"/>
            <a:ext cx="1460896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2" name="Rectangle 7"/>
          <p:cNvSpPr/>
          <p:nvPr/>
        </p:nvSpPr>
        <p:spPr>
          <a:xfrm>
            <a:off x="5645497" y="3631852"/>
            <a:ext cx="5870227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3" name="Rectangle 8"/>
          <p:cNvSpPr/>
          <p:nvPr/>
        </p:nvSpPr>
        <p:spPr>
          <a:xfrm>
            <a:off x="676275" y="4079527"/>
            <a:ext cx="3508325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Rectangle 9"/>
          <p:cNvSpPr/>
          <p:nvPr/>
        </p:nvSpPr>
        <p:spPr>
          <a:xfrm>
            <a:off x="4184600" y="4079527"/>
            <a:ext cx="1460896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5" name="Rectangle 10"/>
          <p:cNvSpPr/>
          <p:nvPr/>
        </p:nvSpPr>
        <p:spPr>
          <a:xfrm>
            <a:off x="5645497" y="4079527"/>
            <a:ext cx="5870227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6" name="Rectangle 11"/>
          <p:cNvSpPr/>
          <p:nvPr/>
        </p:nvSpPr>
        <p:spPr>
          <a:xfrm>
            <a:off x="676275" y="4527202"/>
            <a:ext cx="3508325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7" name="Rectangle 12"/>
          <p:cNvSpPr/>
          <p:nvPr/>
        </p:nvSpPr>
        <p:spPr>
          <a:xfrm>
            <a:off x="4184600" y="4527202"/>
            <a:ext cx="1460896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8" name="Rectangle 13"/>
          <p:cNvSpPr/>
          <p:nvPr/>
        </p:nvSpPr>
        <p:spPr>
          <a:xfrm>
            <a:off x="5645497" y="4527202"/>
            <a:ext cx="5870227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9" name="Rectangle 14"/>
          <p:cNvSpPr/>
          <p:nvPr/>
        </p:nvSpPr>
        <p:spPr>
          <a:xfrm>
            <a:off x="676275" y="4974877"/>
            <a:ext cx="3508325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0" name="Rectangle 15"/>
          <p:cNvSpPr/>
          <p:nvPr/>
        </p:nvSpPr>
        <p:spPr>
          <a:xfrm>
            <a:off x="4184600" y="4974877"/>
            <a:ext cx="1460896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1" name="Rectangle 16"/>
          <p:cNvSpPr/>
          <p:nvPr/>
        </p:nvSpPr>
        <p:spPr>
          <a:xfrm>
            <a:off x="5645497" y="4974877"/>
            <a:ext cx="5870227" cy="9525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2" name="TextBox 17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Summary of Structural Refactoring</a:t>
            </a:r>
          </a:p>
        </p:txBody>
      </p:sp>
      <p:sp>
        <p:nvSpPr>
          <p:cNvPr id="1048703" name="Rectangle 18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9" name=""/>
        <p:cNvGrpSpPr/>
        <p:nvPr/>
      </p:nvGrpSpPr>
      <p:grpSpPr>
        <a:xfrm/>
      </p:grpSpPr>
      <p:pic>
        <p:nvPicPr>
          <p:cNvPr id="2097202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03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334125" y="2532757"/>
            <a:ext cx="5191125" cy="1874043"/>
          </a:xfrm>
          <a:prstGeom prst="rect"/>
        </p:spPr>
      </p:pic>
      <p:sp>
        <p:nvSpPr>
          <p:cNvPr id="1048704" name="TextBox 3"/>
          <p:cNvSpPr txBox="1"/>
          <p:nvPr/>
        </p:nvSpPr>
        <p:spPr>
          <a:xfrm>
            <a:off x="666750" y="2532757"/>
            <a:ext cx="5450681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Bootstrapping in Main.java</a:t>
            </a:r>
          </a:p>
        </p:txBody>
      </p:sp>
      <p:sp>
        <p:nvSpPr>
          <p:cNvPr id="1048705" name="TextBox 4"/>
          <p:cNvSpPr txBox="1"/>
          <p:nvPr/>
        </p:nvSpPr>
        <p:spPr>
          <a:xfrm>
            <a:off x="666750" y="2970907"/>
            <a:ext cx="5191125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Our program's entry point sets up the architectural pieces once and executes real transactions:</a:t>
            </a:r>
          </a:p>
        </p:txBody>
      </p:sp>
      <p:sp>
        <p:nvSpPr>
          <p:cNvPr id="1048706" name="TextBox 5"/>
          <p:cNvSpPr txBox="1"/>
          <p:nvPr/>
        </p:nvSpPr>
        <p:spPr>
          <a:xfrm>
            <a:off x="933450" y="3601342"/>
            <a:ext cx="49244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Configures a 12% VAT module.</a:t>
            </a:r>
          </a:p>
        </p:txBody>
      </p:sp>
      <p:sp>
        <p:nvSpPr>
          <p:cNvPr id="1048707" name="TextBox 6"/>
          <p:cNvSpPr txBox="1"/>
          <p:nvPr/>
        </p:nvSpPr>
        <p:spPr>
          <a:xfrm>
            <a:off x="933450" y="3944242"/>
            <a:ext cx="49244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Injects flat file storage into the Repository.</a:t>
            </a:r>
          </a:p>
        </p:txBody>
      </p:sp>
      <p:sp>
        <p:nvSpPr>
          <p:cNvPr id="1048708" name="TextBox 7"/>
          <p:cNvSpPr txBox="1"/>
          <p:nvPr/>
        </p:nvSpPr>
        <p:spPr>
          <a:xfrm>
            <a:off x="933450" y="4287142"/>
            <a:ext cx="49244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Processes </a:t>
            </a:r>
            <a:r>
              <a:rPr b="1" sz="1200" i="0" u="none">
                <a:solidFill>
                  <a:srgbClr val="2B1E17"/>
                </a:solidFill>
                <a:latin typeface="DM Sans"/>
              </a:rPr>
              <a:t>Juan Dela Cruz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(regular customer, no discount).</a:t>
            </a:r>
          </a:p>
        </p:txBody>
      </p:sp>
      <p:sp>
        <p:nvSpPr>
          <p:cNvPr id="1048709" name="TextBox 8"/>
          <p:cNvSpPr txBox="1"/>
          <p:nvPr/>
        </p:nvSpPr>
        <p:spPr>
          <a:xfrm>
            <a:off x="933450" y="4630042"/>
            <a:ext cx="49244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Processes </a:t>
            </a:r>
            <a:r>
              <a:rPr b="1" sz="1200" i="0" u="none">
                <a:solidFill>
                  <a:srgbClr val="2B1E17"/>
                </a:solidFill>
                <a:latin typeface="DM Sans"/>
              </a:rPr>
              <a:t>Lola Rosa Santos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(senior citizen customer, 20% discount applied cleanly).</a:t>
            </a:r>
          </a:p>
        </p:txBody>
      </p:sp>
      <p:sp>
        <p:nvSpPr>
          <p:cNvPr id="1048710" name="TextBox 9"/>
          <p:cNvSpPr txBox="1"/>
          <p:nvPr/>
        </p:nvSpPr>
        <p:spPr>
          <a:xfrm>
            <a:off x="666750" y="361086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11" name="TextBox 10"/>
          <p:cNvSpPr txBox="1"/>
          <p:nvPr/>
        </p:nvSpPr>
        <p:spPr>
          <a:xfrm>
            <a:off x="666750" y="395376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12" name="TextBox 11"/>
          <p:cNvSpPr txBox="1"/>
          <p:nvPr/>
        </p:nvSpPr>
        <p:spPr>
          <a:xfrm>
            <a:off x="666750" y="429666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13" name="TextBox 12"/>
          <p:cNvSpPr txBox="1"/>
          <p:nvPr/>
        </p:nvSpPr>
        <p:spPr>
          <a:xfrm>
            <a:off x="666750" y="463956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14" name="TextBox 13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System Execution &amp; Outputs</a:t>
            </a:r>
          </a:p>
        </p:txBody>
      </p:sp>
      <p:sp>
        <p:nvSpPr>
          <p:cNvPr id="1048715" name="Rectangle 14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40" name=""/>
        <p:cNvGrpSpPr/>
        <p:nvPr/>
      </p:nvGrpSpPr>
      <p:grpSpPr>
        <a:xfrm/>
      </p:grpSpPr>
      <p:pic>
        <p:nvPicPr>
          <p:cNvPr id="2097204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05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912715"/>
            <a:ext cx="5191125" cy="2343150"/>
          </a:xfrm>
          <a:prstGeom prst="rect"/>
        </p:spPr>
      </p:pic>
      <p:sp>
        <p:nvSpPr>
          <p:cNvPr id="1048716" name="TextBox 3"/>
          <p:cNvSpPr txBox="1"/>
          <p:nvPr/>
        </p:nvSpPr>
        <p:spPr>
          <a:xfrm>
            <a:off x="666750" y="2478434"/>
            <a:ext cx="10858500" cy="2437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To ensure our refactored architectural enhancements are easily reviewable, we maintain a side-by-side package structure:</a:t>
            </a:r>
          </a:p>
        </p:txBody>
      </p:sp>
      <p:sp>
        <p:nvSpPr>
          <p:cNvPr id="1048717" name="TextBox 4"/>
          <p:cNvSpPr txBox="1"/>
          <p:nvPr/>
        </p:nvSpPr>
        <p:spPr>
          <a:xfrm>
            <a:off x="6334125" y="3103215"/>
            <a:ext cx="5450681" cy="26670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Strict Packaging Standards</a:t>
            </a:r>
          </a:p>
        </p:txBody>
      </p:sp>
      <p:sp>
        <p:nvSpPr>
          <p:cNvPr id="1048718" name="TextBox 5"/>
          <p:cNvSpPr txBox="1"/>
          <p:nvPr/>
        </p:nvSpPr>
        <p:spPr>
          <a:xfrm>
            <a:off x="6600825" y="3541365"/>
            <a:ext cx="49244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Coexistence: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naive/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and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refactored/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are strictly parallel sibling directories directly inside the 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coffeeshop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namespace.</a:t>
            </a:r>
          </a:p>
        </p:txBody>
      </p:sp>
      <p:sp>
        <p:nvSpPr>
          <p:cNvPr id="1048719" name="TextBox 6"/>
          <p:cNvSpPr txBox="1"/>
          <p:nvPr/>
        </p:nvSpPr>
        <p:spPr>
          <a:xfrm>
            <a:off x="6600825" y="4112865"/>
            <a:ext cx="49244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Verification: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Refactored classes never import naive classes, keeping imports separate.</a:t>
            </a:r>
          </a:p>
        </p:txBody>
      </p:sp>
      <p:sp>
        <p:nvSpPr>
          <p:cNvPr id="1048720" name="TextBox 7"/>
          <p:cNvSpPr txBox="1"/>
          <p:nvPr/>
        </p:nvSpPr>
        <p:spPr>
          <a:xfrm>
            <a:off x="6600825" y="4684365"/>
            <a:ext cx="49244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Presentation: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The slide file sits directly in the root repository folder, as requested.</a:t>
            </a:r>
          </a:p>
        </p:txBody>
      </p:sp>
      <p:sp>
        <p:nvSpPr>
          <p:cNvPr id="1048721" name="TextBox 8"/>
          <p:cNvSpPr txBox="1"/>
          <p:nvPr/>
        </p:nvSpPr>
        <p:spPr>
          <a:xfrm>
            <a:off x="6334125" y="3550890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22" name="TextBox 9"/>
          <p:cNvSpPr txBox="1"/>
          <p:nvPr/>
        </p:nvSpPr>
        <p:spPr>
          <a:xfrm>
            <a:off x="6334125" y="4122390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23" name="TextBox 10"/>
          <p:cNvSpPr txBox="1"/>
          <p:nvPr/>
        </p:nvSpPr>
        <p:spPr>
          <a:xfrm>
            <a:off x="6334125" y="4693890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24" name="TextBox 11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Standard Project Folder Structure</a:t>
            </a:r>
          </a:p>
        </p:txBody>
      </p:sp>
      <p:sp>
        <p:nvSpPr>
          <p:cNvPr id="1048725" name="Rectangle 12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41" name=""/>
        <p:cNvGrpSpPr/>
        <p:nvPr/>
      </p:nvGrpSpPr>
      <p:grpSpPr>
        <a:xfrm/>
      </p:grpSpPr>
      <p:pic>
        <p:nvPicPr>
          <p:cNvPr id="2097206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07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3510855"/>
            <a:ext cx="2497335" cy="1480095"/>
          </a:xfrm>
          <a:prstGeom prst="rect"/>
        </p:spPr>
      </p:pic>
      <p:pic>
        <p:nvPicPr>
          <p:cNvPr id="2097208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3453705" y="3510855"/>
            <a:ext cx="2497335" cy="1480095"/>
          </a:xfrm>
          <a:prstGeom prst="rect"/>
        </p:spPr>
      </p:pic>
      <p:pic>
        <p:nvPicPr>
          <p:cNvPr id="2097209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240660" y="3510855"/>
            <a:ext cx="2497335" cy="1480095"/>
          </a:xfrm>
          <a:prstGeom prst="rect"/>
        </p:spPr>
      </p:pic>
      <p:pic>
        <p:nvPicPr>
          <p:cNvPr id="2097210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027616" y="3510855"/>
            <a:ext cx="2497335" cy="1480095"/>
          </a:xfrm>
          <a:prstGeom prst="rect"/>
        </p:spPr>
      </p:pic>
      <p:sp>
        <p:nvSpPr>
          <p:cNvPr id="1048726" name="TextBox 6"/>
          <p:cNvSpPr txBox="1"/>
          <p:nvPr/>
        </p:nvSpPr>
        <p:spPr>
          <a:xfrm>
            <a:off x="666750" y="2743200"/>
            <a:ext cx="10858500" cy="2437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To safely push changes to GitHub Classroom without overriding team commits, we strictly follow this workflow:</a:t>
            </a:r>
          </a:p>
        </p:txBody>
      </p:sp>
      <p:sp>
        <p:nvSpPr>
          <p:cNvPr id="1048727" name="Rectangle 7"/>
          <p:cNvSpPr/>
          <p:nvPr/>
        </p:nvSpPr>
        <p:spPr>
          <a:xfrm>
            <a:off x="666750" y="4231778"/>
            <a:ext cx="10858500" cy="38100"/>
          </a:xfrm>
          <a:prstGeom prst="rect"/>
          <a:solidFill>
            <a:srgbClr val="E6D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8" name="TextBox 8"/>
          <p:cNvSpPr txBox="1"/>
          <p:nvPr/>
        </p:nvSpPr>
        <p:spPr>
          <a:xfrm>
            <a:off x="764336" y="3663255"/>
            <a:ext cx="230216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800" i="0" u="none">
                <a:solidFill>
                  <a:srgbClr val="D97706"/>
                </a:solidFill>
                <a:latin typeface="Merriweather"/>
              </a:rPr>
              <a:t>1. Clone Repo</a:t>
            </a:r>
          </a:p>
        </p:txBody>
      </p:sp>
      <p:sp>
        <p:nvSpPr>
          <p:cNvPr id="1048729" name="TextBox 9"/>
          <p:cNvSpPr txBox="1"/>
          <p:nvPr/>
        </p:nvSpPr>
        <p:spPr>
          <a:xfrm>
            <a:off x="873962" y="4432263"/>
            <a:ext cx="2192535" cy="3962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4A3E3D"/>
                </a:solidFill>
                <a:latin typeface="DM Sans"/>
              </a:rPr>
              <a:t>Execute </a:t>
            </a:r>
            <a:r>
              <a:rPr b="0" sz="975" i="0" u="none">
                <a:solidFill>
                  <a:srgbClr val="4A3E3D"/>
                </a:solidFill>
                <a:latin typeface="DM Sans"/>
              </a:rPr>
              <a:t>git clone</a:t>
            </a:r>
            <a:r>
              <a:rPr b="0" sz="975" i="0" u="none">
                <a:solidFill>
                  <a:srgbClr val="4A3E3D"/>
                </a:solidFill>
                <a:latin typeface="DM Sans"/>
              </a:rPr>
              <a:t> to copy the remote team codebase to your local workspace.</a:t>
            </a:r>
          </a:p>
        </p:txBody>
      </p:sp>
      <p:sp>
        <p:nvSpPr>
          <p:cNvPr id="1048730" name="TextBox 10"/>
          <p:cNvSpPr txBox="1"/>
          <p:nvPr/>
        </p:nvSpPr>
        <p:spPr>
          <a:xfrm>
            <a:off x="3551292" y="3663255"/>
            <a:ext cx="230216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800" i="0" u="none">
                <a:solidFill>
                  <a:srgbClr val="D97706"/>
                </a:solidFill>
                <a:latin typeface="Merriweather"/>
              </a:rPr>
              <a:t>2. Write &amp; Test</a:t>
            </a:r>
          </a:p>
        </p:txBody>
      </p:sp>
      <p:sp>
        <p:nvSpPr>
          <p:cNvPr id="1048731" name="TextBox 11"/>
          <p:cNvSpPr txBox="1"/>
          <p:nvPr/>
        </p:nvSpPr>
        <p:spPr>
          <a:xfrm>
            <a:off x="3606104" y="4432324"/>
            <a:ext cx="2192535" cy="3961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4A3E3D"/>
                </a:solidFill>
                <a:latin typeface="DM Sans"/>
              </a:rPr>
              <a:t>Write refactored classes sibling to naive. Verify code works identically.</a:t>
            </a:r>
          </a:p>
        </p:txBody>
      </p:sp>
      <p:sp>
        <p:nvSpPr>
          <p:cNvPr id="1048732" name="TextBox 12"/>
          <p:cNvSpPr txBox="1"/>
          <p:nvPr/>
        </p:nvSpPr>
        <p:spPr>
          <a:xfrm>
            <a:off x="6338247" y="3663255"/>
            <a:ext cx="230216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800" i="0" u="none">
                <a:solidFill>
                  <a:srgbClr val="D97706"/>
                </a:solidFill>
                <a:latin typeface="Merriweather"/>
              </a:rPr>
              <a:t>3. Local Commit</a:t>
            </a:r>
          </a:p>
        </p:txBody>
      </p:sp>
      <p:sp>
        <p:nvSpPr>
          <p:cNvPr id="1048733" name="TextBox 13"/>
          <p:cNvSpPr txBox="1"/>
          <p:nvPr/>
        </p:nvSpPr>
        <p:spPr>
          <a:xfrm>
            <a:off x="6393060" y="4432263"/>
            <a:ext cx="2192535" cy="3962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4A3E3D"/>
                </a:solidFill>
                <a:latin typeface="DM Sans"/>
              </a:rPr>
              <a:t>Commit changes locally using descriptive logs in VS Code or Terminal.</a:t>
            </a:r>
          </a:p>
        </p:txBody>
      </p:sp>
      <p:sp>
        <p:nvSpPr>
          <p:cNvPr id="1048734" name="TextBox 14"/>
          <p:cNvSpPr txBox="1"/>
          <p:nvPr/>
        </p:nvSpPr>
        <p:spPr>
          <a:xfrm>
            <a:off x="9125203" y="3663255"/>
            <a:ext cx="2302162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800" i="0" u="none">
                <a:solidFill>
                  <a:srgbClr val="D97706"/>
                </a:solidFill>
                <a:latin typeface="Merriweather"/>
              </a:rPr>
              <a:t>4. Push Remote</a:t>
            </a:r>
          </a:p>
        </p:txBody>
      </p:sp>
      <p:sp>
        <p:nvSpPr>
          <p:cNvPr id="1048735" name="TextBox 15"/>
          <p:cNvSpPr txBox="1"/>
          <p:nvPr/>
        </p:nvSpPr>
        <p:spPr>
          <a:xfrm>
            <a:off x="9180016" y="4432293"/>
            <a:ext cx="2192535" cy="396241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4A3E3D"/>
                </a:solidFill>
                <a:latin typeface="DM Sans"/>
              </a:rPr>
              <a:t>Execute </a:t>
            </a:r>
            <a:r>
              <a:rPr b="0" sz="975" i="0" u="none">
                <a:solidFill>
                  <a:srgbClr val="4A3E3D"/>
                </a:solidFill>
                <a:latin typeface="DM Sans"/>
              </a:rPr>
              <a:t>git push</a:t>
            </a:r>
            <a:r>
              <a:rPr b="0" sz="975" i="0" u="none">
                <a:solidFill>
                  <a:srgbClr val="4A3E3D"/>
                </a:solidFill>
                <a:latin typeface="DM Sans"/>
              </a:rPr>
              <a:t> or sync changes to publish your progress to GitHub Classroom.</a:t>
            </a:r>
          </a:p>
        </p:txBody>
      </p:sp>
      <p:sp>
        <p:nvSpPr>
          <p:cNvPr id="1048736" name="TextBox 16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Team Git &amp; Collaboration Guide</a:t>
            </a:r>
          </a:p>
        </p:txBody>
      </p:sp>
      <p:sp>
        <p:nvSpPr>
          <p:cNvPr id="1048737" name="Rectangle 17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8" name="Rounded Rectangle 18"/>
          <p:cNvSpPr/>
          <p:nvPr/>
        </p:nvSpPr>
        <p:spPr>
          <a:xfrm>
            <a:off x="1763016" y="419367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AF6F0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9" name="Rounded Rectangle 19"/>
          <p:cNvSpPr/>
          <p:nvPr/>
        </p:nvSpPr>
        <p:spPr>
          <a:xfrm>
            <a:off x="4626173" y="4174703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AF6F0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0" name="Rounded Rectangle 20"/>
          <p:cNvSpPr/>
          <p:nvPr/>
        </p:nvSpPr>
        <p:spPr>
          <a:xfrm>
            <a:off x="7413128" y="4174703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AF6F0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1" name="Rounded Rectangle 21"/>
          <p:cNvSpPr/>
          <p:nvPr/>
        </p:nvSpPr>
        <p:spPr>
          <a:xfrm>
            <a:off x="10200084" y="4174703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AF6F0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42" name=""/>
        <p:cNvGrpSpPr/>
        <p:nvPr/>
      </p:nvGrpSpPr>
      <p:grpSpPr>
        <a:xfrm/>
      </p:grpSpPr>
      <p:pic>
        <p:nvPicPr>
          <p:cNvPr id="2097211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12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6750" y="2943225"/>
            <a:ext cx="4343400" cy="1847850"/>
          </a:xfrm>
          <a:prstGeom prst="rect"/>
        </p:spPr>
      </p:pic>
      <p:sp>
        <p:nvSpPr>
          <p:cNvPr id="1048742" name="TextBox 3"/>
          <p:cNvSpPr txBox="1"/>
          <p:nvPr/>
        </p:nvSpPr>
        <p:spPr>
          <a:xfrm>
            <a:off x="1085850" y="3362325"/>
            <a:ext cx="3505200" cy="685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2B1E17"/>
                </a:solidFill>
                <a:latin typeface="Merriweather"/>
              </a:rPr>
              <a:t>SOLID</a:t>
            </a:r>
          </a:p>
        </p:txBody>
      </p:sp>
      <p:sp>
        <p:nvSpPr>
          <p:cNvPr id="1048743" name="TextBox 4"/>
          <p:cNvSpPr txBox="1"/>
          <p:nvPr/>
        </p:nvSpPr>
        <p:spPr>
          <a:xfrm>
            <a:off x="1085850" y="4143375"/>
            <a:ext cx="3505200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1350" i="0" u="none">
                <a:solidFill>
                  <a:srgbClr val="D97706"/>
                </a:solidFill>
                <a:latin typeface="DM Sans"/>
              </a:rPr>
              <a:t>OOP PRINCIPLES</a:t>
            </a:r>
          </a:p>
        </p:txBody>
      </p:sp>
      <p:sp>
        <p:nvSpPr>
          <p:cNvPr id="1048744" name="TextBox 5"/>
          <p:cNvSpPr txBox="1"/>
          <p:nvPr/>
        </p:nvSpPr>
        <p:spPr>
          <a:xfrm>
            <a:off x="5391150" y="2597497"/>
            <a:ext cx="6800850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High Cohesion &amp; Loose Coupling</a:t>
            </a:r>
          </a:p>
        </p:txBody>
      </p:sp>
      <p:sp>
        <p:nvSpPr>
          <p:cNvPr id="1048745" name="TextBox 6"/>
          <p:cNvSpPr txBox="1"/>
          <p:nvPr/>
        </p:nvSpPr>
        <p:spPr>
          <a:xfrm>
            <a:off x="5391150" y="3035647"/>
            <a:ext cx="6515100" cy="2437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Breaking up monolithic codebases into smaller, isolated modules yields tangible benefits:</a:t>
            </a:r>
          </a:p>
        </p:txBody>
      </p:sp>
      <p:sp>
        <p:nvSpPr>
          <p:cNvPr id="1048746" name="TextBox 7"/>
          <p:cNvSpPr txBox="1"/>
          <p:nvPr/>
        </p:nvSpPr>
        <p:spPr>
          <a:xfrm>
            <a:off x="5657850" y="3422302"/>
            <a:ext cx="624840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Single Responsibility (SRP):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Each class is focused on one clear task. Making updates to VAT calculations doesn't risk breaking receipt formats or storage code.</a:t>
            </a:r>
          </a:p>
        </p:txBody>
      </p:sp>
      <p:sp>
        <p:nvSpPr>
          <p:cNvPr id="1048747" name="TextBox 8"/>
          <p:cNvSpPr txBox="1"/>
          <p:nvPr/>
        </p:nvSpPr>
        <p:spPr>
          <a:xfrm>
            <a:off x="5657850" y="3993802"/>
            <a:ext cx="624840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Open-Closed Principle: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Adding a student discount or switching log systems involves writing a new class rather than modifying original classes.</a:t>
            </a:r>
          </a:p>
        </p:txBody>
      </p:sp>
      <p:sp>
        <p:nvSpPr>
          <p:cNvPr id="1048748" name="TextBox 9"/>
          <p:cNvSpPr txBox="1"/>
          <p:nvPr/>
        </p:nvSpPr>
        <p:spPr>
          <a:xfrm>
            <a:off x="5657850" y="4565302"/>
            <a:ext cx="624840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2B1E17"/>
                </a:solidFill>
                <a:latin typeface="DM Sans"/>
              </a:rPr>
              <a:t>Team-Friendly Design:</a:t>
            </a:r>
            <a:r>
              <a:rPr b="0" sz="1200" i="0" u="none">
                <a:solidFill>
                  <a:srgbClr val="4A3E3D"/>
                </a:solidFill>
                <a:latin typeface="DM Sans"/>
              </a:rPr>
              <a:t> Developers can write, test, and debug their own modules in parallel without running into Git merge conflicts.</a:t>
            </a:r>
          </a:p>
        </p:txBody>
      </p:sp>
      <p:sp>
        <p:nvSpPr>
          <p:cNvPr id="1048749" name="TextBox 10"/>
          <p:cNvSpPr txBox="1"/>
          <p:nvPr/>
        </p:nvSpPr>
        <p:spPr>
          <a:xfrm>
            <a:off x="5391150" y="343182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50" name="TextBox 11"/>
          <p:cNvSpPr txBox="1"/>
          <p:nvPr/>
        </p:nvSpPr>
        <p:spPr>
          <a:xfrm>
            <a:off x="5391150" y="400332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51" name="TextBox 12"/>
          <p:cNvSpPr txBox="1"/>
          <p:nvPr/>
        </p:nvSpPr>
        <p:spPr>
          <a:xfrm>
            <a:off x="5391150" y="4574827"/>
            <a:ext cx="1238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D97706"/>
                </a:solidFill>
                <a:latin typeface="DM Sans"/>
              </a:rPr>
              <a:t>✦</a:t>
            </a:r>
          </a:p>
        </p:txBody>
      </p:sp>
      <p:sp>
        <p:nvSpPr>
          <p:cNvPr id="1048752" name="TextBox 13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Why This Architecture Wins</a:t>
            </a:r>
          </a:p>
        </p:txBody>
      </p:sp>
      <p:sp>
        <p:nvSpPr>
          <p:cNvPr id="1048753" name="Rectangle 14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3" name=""/>
        <p:cNvGrpSpPr/>
        <p:nvPr/>
      </p:nvGrpSpPr>
      <p:grpSpPr>
        <a:xfrm/>
      </p:grpSpPr>
      <p:pic>
        <p:nvPicPr>
          <p:cNvPr id="2097178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79" name="Flowchart Image" descr="flowchart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230101" y="1900000"/>
            <a:ext cx="3730681" cy="4572000"/>
          </a:xfrm>
          <a:prstGeom prst="rect"/>
          <a:effectLst>
            <a:outerShdw blurRad="90000" dist="30000" dir="5400000" rotWithShape="0">
              <a:srgbClr val="000000">
                <a:alpha val="25000"/>
              </a:srgbClr>
            </a:outerShdw>
          </a:effectLst>
        </p:spPr>
      </p:pic>
      <p:sp>
        <p:nvSpPr>
          <p:cNvPr id="1048635" name="TextBox 3"/>
          <p:cNvSpPr txBox="1"/>
          <p:nvPr/>
        </p:nvSpPr>
        <p:spPr>
          <a:xfrm>
            <a:off x="666750" y="1143000"/>
            <a:ext cx="5450681" cy="2667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800" i="0" u="none">
                <a:solidFill>
                  <a:srgbClr val="D97706"/>
                </a:solidFill>
                <a:latin typeface="Merriweather"/>
              </a:rPr>
              <a:t>Visual Reference</a:t>
            </a:r>
          </a:p>
        </p:txBody>
      </p:sp>
      <p:sp>
        <p:nvSpPr>
          <p:cNvPr id="1048636" name="TextBox 4"/>
          <p:cNvSpPr txBox="1"/>
          <p:nvPr/>
        </p:nvSpPr>
        <p:spPr>
          <a:xfrm>
            <a:off x="666750" y="1470025"/>
            <a:ext cx="10858500" cy="274638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3E3D"/>
                </a:solidFill>
                <a:latin typeface="DM Sans"/>
              </a:rPr>
              <a:t>Styled after the system’s own printed receipt — each stamped step below is one method call in the OrderProcessor pipeline.</a:t>
            </a:r>
          </a:p>
        </p:txBody>
      </p:sp>
      <p:sp>
        <p:nvSpPr>
          <p:cNvPr id="1048643" name="TextBox 11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Flowchart: How an Order Is Processed</a:t>
            </a:r>
          </a:p>
        </p:txBody>
      </p:sp>
      <p:sp>
        <p:nvSpPr>
          <p:cNvPr id="1048644" name="Rectangle 12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34" name=""/>
        <p:cNvGrpSpPr/>
        <p:nvPr/>
      </p:nvGrpSpPr>
      <p:grpSpPr>
        <a:xfrm/>
      </p:grpSpPr>
      <p:pic>
        <p:nvPicPr>
          <p:cNvPr id="2097180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650" name="TextBox 9"/>
          <p:cNvSpPr txBox="1"/>
          <p:nvPr/>
        </p:nvSpPr>
        <p:spPr>
          <a:xfrm>
            <a:off x="666750" y="476250"/>
            <a:ext cx="11401425" cy="419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850" i="0" u="none">
                <a:solidFill>
                  <a:srgbClr val="2B1E17"/>
                </a:solidFill>
                <a:latin typeface="Merriweather"/>
              </a:rPr>
              <a:t>Team Contribution &amp; Scoring</a:t>
            </a:r>
          </a:p>
        </p:txBody>
      </p:sp>
      <p:sp>
        <p:nvSpPr>
          <p:cNvPr id="1048651" name="Rectangle 10"/>
          <p:cNvSpPr/>
          <p:nvPr/>
        </p:nvSpPr>
        <p:spPr>
          <a:xfrm>
            <a:off x="666750" y="1038225"/>
            <a:ext cx="10858500" cy="28575"/>
          </a:xfrm>
          <a:prstGeom prst="rect"/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5" name="TextBox 3"/>
          <p:cNvSpPr txBox="1"/>
          <p:nvPr/>
        </p:nvSpPr>
        <p:spPr>
          <a:xfrm>
            <a:off x="666750" y="1200150"/>
            <a:ext cx="10858500" cy="340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200" i="0" u="none">
                <a:solidFill>
                  <a:srgbClr val="4A3E3D"/>
                </a:solidFill>
                <a:latin typeface="DM Sans"/>
              </a:rPr>
              <a:t>Each member’s contribution to this project is scored out of 100 points total.</a:t>
            </a:r>
          </a:p>
        </p:txBody>
      </p:sp>
      <p:graphicFrame>
        <p:nvGraphicFramePr>
          <p:cNvPr id="4194305" name="Score Table"/>
          <p:cNvGraphicFramePr>
            <a:graphicFrameLocks noGrp="1"/>
          </p:cNvGraphicFramePr>
          <p:nvPr/>
        </p:nvGraphicFramePr>
        <p:xfrm>
          <a:off x="676275" y="1650000"/>
          <a:ext cx="10839448" cy="3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0"/>
                <a:gridCol w="2839448"/>
              </a:tblGrid>
              <a:tr h="500000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Team Member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Merriweather"/>
                        </a:rPr>
                        <a:t>Points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B1E17"/>
                    </a:solidFill>
                  </a:tcPr>
                </a:tc>
              </a:tr>
              <a:tr h="480000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Apay-Yeo, Lhester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80000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Tuclab, Rahamier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25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80000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Alingod, Precious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80000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Patungao, Brandon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80000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Cabar, Bea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200" i="0" u="none">
                          <a:solidFill>
                            <a:srgbClr val="4A3E3D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6F0"/>
                    </a:solidFill>
                  </a:tcPr>
                </a:tc>
              </a:tr>
              <a:tr h="480000"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DM Sans"/>
                        </a:rPr>
                        <a:t>TOTAL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1" sz="1200" i="0" u="none">
                          <a:solidFill>
                            <a:srgbClr val="FAF6F0"/>
                          </a:solidFill>
                          <a:latin typeface="DM Sans"/>
                        </a:rPr>
                        <a:t>100</a:t>
                      </a:r>
                    </a:p>
                  </a:txBody>
                  <a:tcPr marL="91440" marR="9144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1048652" name="TextBox 11"/>
          <p:cNvSpPr txBox="1"/>
          <p:nvPr/>
        </p:nvSpPr>
        <p:spPr>
          <a:xfrm>
            <a:off x="676275" y="5150000"/>
            <a:ext cx="10839448" cy="3000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i="1" sz="1100" u="none">
                <a:solidFill>
                  <a:srgbClr val="4A3E3D"/>
                </a:solidFill>
                <a:latin typeface="DM Sans"/>
              </a:rPr>
              <a:t>COMPSCI Group Project · Java OOP Design · July 20,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Infinix X6840</dc:creator>
  <cp:lastModifiedBy>Steve Canny</cp:lastModifiedBy>
  <dcterms:created xsi:type="dcterms:W3CDTF">2013-01-26T17:14:16Z</dcterms:created>
  <dcterms:modified xsi:type="dcterms:W3CDTF">2026-07-20T01:01:39Z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02cd9b980a944cd0949e47923f130bd3_23</vt:lpwstr>
  </property>
</Properties>
</file>